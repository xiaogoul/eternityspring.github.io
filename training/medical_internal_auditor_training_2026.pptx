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4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20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1783080"/>
            <a:ext cx="106070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43450"/>
                </a:solidFill>
                <a:latin typeface="Microsoft YaHei"/>
              </a:rPr>
              <a:t>医疗体系内审员培训转训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615184"/>
            <a:ext cx="10241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91A0"/>
                </a:solidFill>
                <a:latin typeface="Microsoft YaHei"/>
              </a:rPr>
              <a:t>法规最新要求 | 质量管理体系 | ISO 13485 | 采购与供应商控制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273552"/>
            <a:ext cx="9509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6606E"/>
                </a:solidFill>
                <a:latin typeface="Microsoft YaHei"/>
              </a:rPr>
              <a:t>适用对象：采购、质量、仓储、生产、研发及供应商管理相关人员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703320"/>
            <a:ext cx="9509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6606E"/>
                </a:solidFill>
                <a:latin typeface="Microsoft YaHei"/>
              </a:rPr>
              <a:t>基于深圳医疗协会医疗体系内审员培训内容整理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7091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5C91"/>
                </a:solidFill>
                <a:latin typeface="Microsoft YaHei"/>
              </a:rPr>
              <a:t>2026 内部培训版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6606E"/>
                </a:solidFill>
                <a:latin typeface="Microsoft YaHei"/>
              </a:rPr>
              <a:t>医疗体系内审员培训转训 | 供内部培训使用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62940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6606E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A0"/>
                </a:solidFill>
                <a:latin typeface="Microsoft YaHei"/>
              </a:rPr>
              <a:t>培训导入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3450"/>
                </a:solidFill>
                <a:latin typeface="Microsoft YaHei"/>
              </a:rPr>
              <a:t>本次培训目标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6606E"/>
                </a:solidFill>
                <a:latin typeface="Microsoft YaHei"/>
              </a:rPr>
              <a:t>把外部内审员培训转化为内部可执行的采购与质量管理动作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1005840" cy="4572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2578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5257800" cy="91440"/>
          </a:xfrm>
          <a:prstGeom prst="rect">
            <a:avLst/>
          </a:prstGeom>
          <a:solidFill>
            <a:srgbClr val="20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05C91"/>
                </a:solidFill>
                <a:latin typeface="Microsoft YaHei"/>
              </a:rPr>
              <a:t>听完后应能做到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50592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说清医疗器械监管框架和近期变化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79192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理解质量管理体系的过程方法和风险思维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07792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掌握 ISO 13485 对采购控制的核心要求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36392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能用内审视角识别采购和供应商管理缺口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28800"/>
            <a:ext cx="52578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5257800" cy="9144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99339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91A0"/>
                </a:solidFill>
                <a:latin typeface="Microsoft YaHei"/>
              </a:rPr>
              <a:t>建议互动方式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450592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每个模块结合 1 个公司实际案例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79192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现场抽查 1 份供应商档案或采购记录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07792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结束前形成部门整改/优化清单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6606E"/>
                </a:solidFill>
                <a:latin typeface="Microsoft YaHei"/>
              </a:rPr>
              <a:t>医疗体系内审员培训转训 | 供内部培训使用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62940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6606E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A0"/>
                </a:solidFill>
                <a:latin typeface="Microsoft YaHei"/>
              </a:rPr>
              <a:t>角色认知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3450"/>
                </a:solidFill>
                <a:latin typeface="Microsoft YaHei"/>
              </a:rPr>
              <a:t>为什么采购工程师要懂内审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6606E"/>
                </a:solidFill>
                <a:latin typeface="Microsoft YaHei"/>
              </a:rPr>
              <a:t>采购不是简单下单，而是医疗器械全生命周期质量控制的前置关口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1005840" cy="4572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5204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3520440" cy="91440"/>
          </a:xfrm>
          <a:prstGeom prst="rect">
            <a:avLst/>
          </a:prstGeom>
          <a:solidFill>
            <a:srgbClr val="20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4767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05C91"/>
                </a:solidFill>
                <a:latin typeface="Microsoft YaHei"/>
              </a:rPr>
              <a:t>采购对产品质量的影响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048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关键物料、外协过程和服务会直接影响安全有效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334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供应商变更、工艺漂移、证照过期会放大合规风险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620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采购记录是追溯、召回和监管检查的重要证据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83080"/>
            <a:ext cx="35204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783080"/>
            <a:ext cx="3520440" cy="9144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4767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91A0"/>
                </a:solidFill>
                <a:latin typeface="Microsoft YaHei"/>
              </a:rPr>
              <a:t>内审能帮助采购发现什么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048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流程是否按文件执行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6334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记录是否真实、完整、可追溯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620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供应商准入、监控和重评是否闭环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0906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质量协议和变更通知是否有效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783080"/>
            <a:ext cx="35204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783080"/>
            <a:ext cx="3520440" cy="91440"/>
          </a:xfrm>
          <a:prstGeom prst="rect">
            <a:avLst/>
          </a:prstGeom>
          <a:solidFill>
            <a:srgbClr val="E88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94767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8026"/>
                </a:solidFill>
                <a:latin typeface="Microsoft YaHei"/>
              </a:rPr>
              <a:t>采购人员的底线思维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4048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不从未批准供应商采购关键物料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6334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不接受资质不清或证据缺失的产品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8620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不绕过质量部门处理异常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6606E"/>
                </a:solidFill>
                <a:latin typeface="Microsoft YaHei"/>
              </a:rPr>
              <a:t>医疗体系内审员培训转训 | 供内部培训使用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62940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6606E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4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66360"/>
            <a:ext cx="12188952" cy="1691640"/>
          </a:xfrm>
          <a:prstGeom prst="rect">
            <a:avLst/>
          </a:prstGeom>
          <a:solidFill>
            <a:srgbClr val="20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第一部分：医疗器械法规与监管变化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69748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DECF8"/>
                </a:solidFill>
                <a:latin typeface="Microsoft YaHei"/>
              </a:rPr>
              <a:t>从合规框架看采购、供应商和追溯要求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08076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DDECF8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A0"/>
                </a:solidFill>
                <a:latin typeface="Microsoft YaHei"/>
              </a:rPr>
              <a:t>法规框架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3450"/>
                </a:solidFill>
                <a:latin typeface="Microsoft YaHei"/>
              </a:rPr>
              <a:t>医疗器械法规框架一览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6606E"/>
                </a:solidFill>
                <a:latin typeface="Microsoft YaHei"/>
              </a:rPr>
              <a:t>培训中可按“法规—规章—规范—标准—公司文件”逐层理解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1005840" cy="4572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783080"/>
          <a:ext cx="1083564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/>
                <a:gridCol w="3611880"/>
                <a:gridCol w="361188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层级</a:t>
                      </a:r>
                    </a:p>
                  </a:txBody>
                  <a:tcPr marL="45720" marR="45720" marT="36576" marB="36576">
                    <a:solidFill>
                      <a:srgbClr val="205C9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示例</a:t>
                      </a:r>
                    </a:p>
                  </a:txBody>
                  <a:tcPr marL="45720" marR="45720" marT="36576" marB="36576">
                    <a:solidFill>
                      <a:srgbClr val="205C9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对采购/内审的关注点</a:t>
                      </a:r>
                    </a:p>
                  </a:txBody>
                  <a:tcPr marL="45720" marR="45720" marT="36576" marB="36576">
                    <a:solidFill>
                      <a:srgbClr val="205C9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3450"/>
                          </a:solidFill>
                          <a:latin typeface="Microsoft YaHei"/>
                        </a:rPr>
                        <a:t>法规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3450"/>
                          </a:solidFill>
                          <a:latin typeface="Microsoft YaHei"/>
                        </a:rPr>
                        <a:t>《医疗器械监督管理条例》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3450"/>
                          </a:solidFill>
                          <a:latin typeface="Microsoft YaHei"/>
                        </a:rPr>
                        <a:t>注册人/备案人主体责任、全生命周期监管、违法后果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3450"/>
                          </a:solidFill>
                          <a:latin typeface="Microsoft YaHei"/>
                        </a:rPr>
                        <a:t>部门规章</a:t>
                      </a:r>
                    </a:p>
                  </a:txBody>
                  <a:tcPr marL="45720" marR="4572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3450"/>
                          </a:solidFill>
                          <a:latin typeface="Microsoft YaHei"/>
                        </a:rPr>
                        <a:t>注册与备案、生产监督、经营监督等办法</a:t>
                      </a:r>
                    </a:p>
                  </a:txBody>
                  <a:tcPr marL="45720" marR="4572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3450"/>
                          </a:solidFill>
                          <a:latin typeface="Microsoft YaHei"/>
                        </a:rPr>
                        <a:t>许可备案、变更、生产经营活动边界</a:t>
                      </a:r>
                    </a:p>
                  </a:txBody>
                  <a:tcPr marL="45720" marR="45720" marT="36576" marB="36576">
                    <a:solidFill>
                      <a:srgbClr val="F4F7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3450"/>
                          </a:solidFill>
                          <a:latin typeface="Microsoft YaHei"/>
                        </a:rPr>
                        <a:t>质量规范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3450"/>
                          </a:solidFill>
                          <a:latin typeface="Microsoft YaHei"/>
                        </a:rPr>
                        <a:t>生产质量管理规范、经营质量管理规范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3450"/>
                          </a:solidFill>
                          <a:latin typeface="Microsoft YaHei"/>
                        </a:rPr>
                        <a:t>体系运行、采购验收、仓储追溯、委托/外协控制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3450"/>
                          </a:solidFill>
                          <a:latin typeface="Microsoft YaHei"/>
                        </a:rPr>
                        <a:t>强制/推荐标准</a:t>
                      </a:r>
                    </a:p>
                  </a:txBody>
                  <a:tcPr marL="45720" marR="4572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3450"/>
                          </a:solidFill>
                          <a:latin typeface="Microsoft YaHei"/>
                        </a:rPr>
                        <a:t>GB/YY 标准、ISO 13485 等</a:t>
                      </a:r>
                    </a:p>
                  </a:txBody>
                  <a:tcPr marL="45720" marR="4572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3450"/>
                          </a:solidFill>
                          <a:latin typeface="Microsoft YaHei"/>
                        </a:rPr>
                        <a:t>产品和过程要求、验证确认、记录和证据</a:t>
                      </a:r>
                    </a:p>
                  </a:txBody>
                  <a:tcPr marL="45720" marR="45720" marT="36576" marB="36576">
                    <a:solidFill>
                      <a:srgbClr val="F4F7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3450"/>
                          </a:solidFill>
                          <a:latin typeface="Microsoft YaHei"/>
                        </a:rPr>
                        <a:t>公司文件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3450"/>
                          </a:solidFill>
                          <a:latin typeface="Microsoft YaHei"/>
                        </a:rPr>
                        <a:t>质量手册、程序、SOP、表单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3450"/>
                          </a:solidFill>
                          <a:latin typeface="Microsoft YaHei"/>
                        </a:rPr>
                        <a:t>内审直接依据，必须与法规和标准保持一致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48640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8026"/>
                </a:solidFill>
                <a:latin typeface="Microsoft YaHei"/>
              </a:rPr>
              <a:t>内审提示：外部法规不是“挂在墙上的文件”，应被转化进程序、职责、记录和日常操作。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6606E"/>
                </a:solidFill>
                <a:latin typeface="Microsoft YaHei"/>
              </a:rPr>
              <a:t>医疗体系内审员培训转训 | 供内部培训使用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2940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6606E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A0"/>
                </a:solidFill>
                <a:latin typeface="Microsoft YaHei"/>
              </a:rPr>
              <a:t>法规变化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3450"/>
                </a:solidFill>
                <a:latin typeface="Microsoft YaHei"/>
              </a:rPr>
              <a:t>近期监管变化：需要内部培训关注的重点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6606E"/>
                </a:solidFill>
                <a:latin typeface="Microsoft YaHei"/>
              </a:rPr>
              <a:t>以下为公开监管信息的培训化整理，具体执行以现行有效法规原文为准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1005840" cy="4572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5204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3520440" cy="91440"/>
          </a:xfrm>
          <a:prstGeom prst="rect">
            <a:avLst/>
          </a:prstGeom>
          <a:solidFill>
            <a:srgbClr val="20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05C91"/>
                </a:solidFill>
                <a:latin typeface="Microsoft YaHei"/>
              </a:rPr>
              <a:t>经营质量管理规范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591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新版《医疗器械经营质量管理规范》自 2024-07-01 施行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877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强化采购、验收、仓储、销售、售后和追溯全过程管理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163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关注 UDI、电子证照、直调、多仓协同等新场景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37360"/>
            <a:ext cx="35204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737360"/>
            <a:ext cx="3520440" cy="9144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019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91A0"/>
                </a:solidFill>
                <a:latin typeface="Microsoft YaHei"/>
              </a:rPr>
              <a:t>生产质量管理规范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591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国家药监局 2025 年发布新版生产质量管理规范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877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自 2026-11-01 施行，过渡期内应完成文件和体系升级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163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强调质量保证、验证确认、委托生产和外协加工受控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737360"/>
            <a:ext cx="35204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737360"/>
            <a:ext cx="3520440" cy="91440"/>
          </a:xfrm>
          <a:prstGeom prst="rect">
            <a:avLst/>
          </a:prstGeom>
          <a:solidFill>
            <a:srgbClr val="E88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9019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8026"/>
                </a:solidFill>
                <a:latin typeface="Microsoft YaHei"/>
              </a:rPr>
              <a:t>共同监管趋势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3591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全生命周期质量责任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5877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风险管理和持续改进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8163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数据真实、完整、可追溯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0449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注册人/备案人对供应链不能“甩锅”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6606E"/>
                </a:solidFill>
                <a:latin typeface="Microsoft YaHei"/>
              </a:rPr>
              <a:t>医疗体系内审员培训转训 | 供内部培训使用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62940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6606E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A0"/>
                </a:solidFill>
                <a:latin typeface="Microsoft YaHei"/>
              </a:rPr>
              <a:t>法规基础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3450"/>
                </a:solidFill>
                <a:latin typeface="Microsoft YaHei"/>
              </a:rPr>
              <a:t>医疗器械分类与采购合规边界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6606E"/>
                </a:solidFill>
                <a:latin typeface="Microsoft YaHei"/>
              </a:rPr>
              <a:t>采购前先确认“买的是什么、用于哪里、监管属性是什么”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1005840" cy="4572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5204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3520440" cy="91440"/>
          </a:xfrm>
          <a:prstGeom prst="rect">
            <a:avLst/>
          </a:prstGeom>
          <a:solidFill>
            <a:srgbClr val="20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05C91"/>
                </a:solidFill>
                <a:latin typeface="Microsoft YaHei"/>
              </a:rPr>
              <a:t>按风险分类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591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第一类：常规管理可保证安全有效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877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第二类：需严格控制管理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163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第三类：植入、支持维持生命等较高风险，控制最严格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37360"/>
            <a:ext cx="35204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737360"/>
            <a:ext cx="3520440" cy="9144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019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91A0"/>
                </a:solidFill>
                <a:latin typeface="Microsoft YaHei"/>
              </a:rPr>
              <a:t>采购前应确认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591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产品注册证/备案凭证及适用范围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877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生产/经营资质、授权链条和有效期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163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规格型号、关键技术要求、标签说明书要求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0449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是否涉及冷链、无菌、植入、UDI 或特殊储运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737360"/>
            <a:ext cx="35204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737360"/>
            <a:ext cx="3520440" cy="91440"/>
          </a:xfrm>
          <a:prstGeom prst="rect">
            <a:avLst/>
          </a:prstGeom>
          <a:solidFill>
            <a:srgbClr val="BE3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9019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E3F36"/>
                </a:solidFill>
                <a:latin typeface="Microsoft YaHei"/>
              </a:rPr>
              <a:t>典型红线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3591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证照过期或授权链不完整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5877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实际采购型号与注册/备案信息不一致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8163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供应商未按约定提前通知重大变更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0449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未按规定保留追溯记录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6606E"/>
                </a:solidFill>
                <a:latin typeface="Microsoft YaHei"/>
              </a:rPr>
              <a:t>医疗体系内审员培训转训 | 供内部培训使用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62940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6606E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4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66360"/>
            <a:ext cx="12188952" cy="1691640"/>
          </a:xfrm>
          <a:prstGeom prst="rect">
            <a:avLst/>
          </a:prstGeom>
          <a:solidFill>
            <a:srgbClr val="20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第二部分：质量管理体系与内审方法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69748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DECF8"/>
                </a:solidFill>
                <a:latin typeface="Microsoft YaHei"/>
              </a:rPr>
              <a:t>把法规要求变成过程、证据和持续改进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08076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DDECF8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A0"/>
                </a:solidFill>
                <a:latin typeface="Microsoft YaHei"/>
              </a:rPr>
              <a:t>质量体系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3450"/>
                </a:solidFill>
                <a:latin typeface="Microsoft YaHei"/>
              </a:rPr>
              <a:t>质量管理体系的过程方法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6606E"/>
                </a:solidFill>
                <a:latin typeface="Microsoft YaHei"/>
              </a:rPr>
              <a:t>医疗器械质量体系不是文件集合，而是一组相互作用的过程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1005840" cy="4572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554480" cy="822960"/>
          </a:xfrm>
          <a:prstGeom prst="roundRect">
            <a:avLst/>
          </a:prstGeom>
          <a:solidFill>
            <a:srgbClr val="E5F1FB"/>
          </a:solidFill>
          <a:ln>
            <a:solidFill>
              <a:srgbClr val="C2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019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05C91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1993392"/>
            <a:ext cx="1170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43450"/>
                </a:solidFill>
                <a:latin typeface="Microsoft YaHei"/>
              </a:rPr>
              <a:t>输入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22576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6606E"/>
                </a:solidFill>
                <a:latin typeface="Microsoft YaHei"/>
              </a:rPr>
              <a:t>法规/客户/风险/资源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2066543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91A0"/>
                </a:solidFill>
                <a:latin typeface="Microsoft YaHei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61488" y="1828800"/>
            <a:ext cx="1554480" cy="822960"/>
          </a:xfrm>
          <a:prstGeom prst="roundRect">
            <a:avLst/>
          </a:prstGeom>
          <a:solidFill>
            <a:srgbClr val="E5F1FB"/>
          </a:solidFill>
          <a:ln>
            <a:solidFill>
              <a:srgbClr val="C2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9019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05C91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993392"/>
            <a:ext cx="1170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43450"/>
                </a:solidFill>
                <a:latin typeface="Microsoft YaHei"/>
              </a:rPr>
              <a:t>过程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8648" y="2322576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6606E"/>
                </a:solidFill>
                <a:latin typeface="Microsoft YaHei"/>
              </a:rPr>
              <a:t>采购/生产/检验/仓储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2066543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91A0"/>
                </a:solidFill>
                <a:latin typeface="Microsoft YaHei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08576" y="1828800"/>
            <a:ext cx="1554480" cy="822960"/>
          </a:xfrm>
          <a:prstGeom prst="roundRect">
            <a:avLst/>
          </a:prstGeom>
          <a:solidFill>
            <a:srgbClr val="E5F1FB"/>
          </a:solidFill>
          <a:ln>
            <a:solidFill>
              <a:srgbClr val="C2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1728" y="19019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05C91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608" y="1993392"/>
            <a:ext cx="1170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43450"/>
                </a:solidFill>
                <a:latin typeface="Microsoft YaHei"/>
              </a:rPr>
              <a:t>输出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5736" y="2322576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6606E"/>
                </a:solidFill>
                <a:latin typeface="Microsoft YaHei"/>
              </a:rPr>
              <a:t>合格产品/记录/服务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2066543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91A0"/>
                </a:solidFill>
                <a:latin typeface="Microsoft YaHei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55664" y="1828800"/>
            <a:ext cx="1554480" cy="822960"/>
          </a:xfrm>
          <a:prstGeom prst="roundRect">
            <a:avLst/>
          </a:prstGeom>
          <a:solidFill>
            <a:srgbClr val="E5F1FB"/>
          </a:solidFill>
          <a:ln>
            <a:solidFill>
              <a:srgbClr val="C2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28816" y="19019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05C91"/>
                </a:solidFill>
                <a:latin typeface="Microsoft Ya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1696" y="1993392"/>
            <a:ext cx="1170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43450"/>
                </a:solidFill>
                <a:latin typeface="Microsoft YaHei"/>
              </a:rPr>
              <a:t>监测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92824" y="2322576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6606E"/>
                </a:solidFill>
                <a:latin typeface="Microsoft YaHei"/>
              </a:rPr>
              <a:t>指标/审核/投诉/不良事件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1" y="2066543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91A0"/>
                </a:solidFill>
                <a:latin typeface="Microsoft YaHei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02752" y="1828800"/>
            <a:ext cx="1554480" cy="822960"/>
          </a:xfrm>
          <a:prstGeom prst="roundRect">
            <a:avLst/>
          </a:prstGeom>
          <a:solidFill>
            <a:srgbClr val="E5F1FB"/>
          </a:solidFill>
          <a:ln>
            <a:solidFill>
              <a:srgbClr val="C2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75904" y="19019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05C91"/>
                </a:solidFill>
                <a:latin typeface="Microsoft YaHe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58784" y="1993392"/>
            <a:ext cx="1170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43450"/>
                </a:solidFill>
                <a:latin typeface="Microsoft YaHei"/>
              </a:rPr>
              <a:t>改进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9912" y="2322576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6606E"/>
                </a:solidFill>
                <a:latin typeface="Microsoft YaHei"/>
              </a:rPr>
              <a:t>CAPA/变更/管理评审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1560" y="3886200"/>
            <a:ext cx="10012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51560" y="3886200"/>
            <a:ext cx="10012680" cy="91440"/>
          </a:xfrm>
          <a:prstGeom prst="rect">
            <a:avLst/>
          </a:prstGeom>
          <a:solidFill>
            <a:srgbClr val="20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4050791"/>
            <a:ext cx="9555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05C91"/>
                </a:solidFill>
                <a:latin typeface="Microsoft YaHei"/>
              </a:rPr>
              <a:t>内审看什么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4507992"/>
            <a:ext cx="9601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过程是否有明确负责人、输入、输出和控制方法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4736592"/>
            <a:ext cx="9601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关键风险是否被识别并设置控制点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4965192"/>
            <a:ext cx="9601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记录能否证明过程按要求执行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5193792"/>
            <a:ext cx="9601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问题是否进入纠正预防和持续改进闭环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6606E"/>
                </a:solidFill>
                <a:latin typeface="Microsoft YaHei"/>
              </a:rPr>
              <a:t>医疗体系内审员培训转训 | 供内部培训使用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62940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6606E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A0"/>
                </a:solidFill>
                <a:latin typeface="Microsoft YaHei"/>
              </a:rPr>
              <a:t>内审方法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3450"/>
                </a:solidFill>
                <a:latin typeface="Microsoft YaHei"/>
              </a:rPr>
              <a:t>内审的定位与原则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6606E"/>
                </a:solidFill>
                <a:latin typeface="Microsoft YaHei"/>
              </a:rPr>
              <a:t>内审是自我发现问题的机制，不是为了追责而追责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1005840" cy="4572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5204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3520440" cy="91440"/>
          </a:xfrm>
          <a:prstGeom prst="rect">
            <a:avLst/>
          </a:prstGeom>
          <a:solidFill>
            <a:srgbClr val="20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4767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05C91"/>
                </a:solidFill>
                <a:latin typeface="Microsoft YaHei"/>
              </a:rPr>
              <a:t>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048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验证体系是否符合：法规、标准、公司文件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334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验证体系是否有效：是否能稳定产出符合要求的结果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620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识别风险和改进机会，为管理评审提供输入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83080"/>
            <a:ext cx="35204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783080"/>
            <a:ext cx="3520440" cy="9144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4767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91A0"/>
                </a:solidFill>
                <a:latin typeface="Microsoft YaHei"/>
              </a:rPr>
              <a:t>原则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048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基于证据：文件、记录、访谈、现场观察相互印证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6334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基于风险：优先审关键物料、关键供应商、异常高发过程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620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独立客观：审核员不审核自己直接负责的工作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783080"/>
            <a:ext cx="35204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783080"/>
            <a:ext cx="3520440" cy="91440"/>
          </a:xfrm>
          <a:prstGeom prst="rect">
            <a:avLst/>
          </a:prstGeom>
          <a:solidFill>
            <a:srgbClr val="E88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94767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8026"/>
                </a:solidFill>
                <a:latin typeface="Microsoft YaHei"/>
              </a:rPr>
              <a:t>常用证据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4048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程序文件、SOP、记录表单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6334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采购订单、验收记录、供应商档案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8620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质量协议、审计报告、CAPA/变更记录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0906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现场状态、系统数据和人员访谈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6606E"/>
                </a:solidFill>
                <a:latin typeface="Microsoft YaHei"/>
              </a:rPr>
              <a:t>医疗体系内审员培训转训 | 供内部培训使用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62940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6606E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A0"/>
                </a:solidFill>
                <a:latin typeface="Microsoft YaHei"/>
              </a:rPr>
              <a:t>内审方法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3450"/>
                </a:solidFill>
                <a:latin typeface="Microsoft YaHei"/>
              </a:rPr>
              <a:t>内审流程：从计划到闭环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6606E"/>
                </a:solidFill>
                <a:latin typeface="Microsoft YaHei"/>
              </a:rPr>
              <a:t>好的内审不是发现问题就结束，而是验证纠正措施有效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1005840" cy="4572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1554480" cy="822960"/>
          </a:xfrm>
          <a:prstGeom prst="roundRect">
            <a:avLst/>
          </a:prstGeom>
          <a:solidFill>
            <a:srgbClr val="E5F1FB"/>
          </a:solidFill>
          <a:ln>
            <a:solidFill>
              <a:srgbClr val="C2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9019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05C91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993392"/>
            <a:ext cx="1170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43450"/>
                </a:solidFill>
                <a:latin typeface="Microsoft YaHei"/>
              </a:rPr>
              <a:t>年度计划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22576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6606E"/>
                </a:solidFill>
                <a:latin typeface="Microsoft YaHei"/>
              </a:rPr>
              <a:t>范围/频次/资源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2066543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91A0"/>
                </a:solidFill>
                <a:latin typeface="Microsoft YaHei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04288" y="1828800"/>
            <a:ext cx="1554480" cy="822960"/>
          </a:xfrm>
          <a:prstGeom prst="roundRect">
            <a:avLst/>
          </a:prstGeom>
          <a:solidFill>
            <a:srgbClr val="E5F1FB"/>
          </a:solidFill>
          <a:ln>
            <a:solidFill>
              <a:srgbClr val="C2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19019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05C91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1993392"/>
            <a:ext cx="1170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43450"/>
                </a:solidFill>
                <a:latin typeface="Microsoft YaHei"/>
              </a:rPr>
              <a:t>审核准备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2322576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6606E"/>
                </a:solidFill>
                <a:latin typeface="Microsoft YaHei"/>
              </a:rPr>
              <a:t>法规/文件/检查表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8496" y="2066543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91A0"/>
                </a:solidFill>
                <a:latin typeface="Microsoft YaHei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51376" y="1828800"/>
            <a:ext cx="1554480" cy="822960"/>
          </a:xfrm>
          <a:prstGeom prst="roundRect">
            <a:avLst/>
          </a:prstGeom>
          <a:solidFill>
            <a:srgbClr val="E5F1FB"/>
          </a:solidFill>
          <a:ln>
            <a:solidFill>
              <a:srgbClr val="C2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24528" y="19019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05C91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1993392"/>
            <a:ext cx="1170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43450"/>
                </a:solidFill>
                <a:latin typeface="Microsoft YaHei"/>
              </a:rPr>
              <a:t>现场审核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8536" y="2322576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6606E"/>
                </a:solidFill>
                <a:latin typeface="Microsoft YaHei"/>
              </a:rPr>
              <a:t>访谈/观察/抽样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15584" y="2066543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91A0"/>
                </a:solidFill>
                <a:latin typeface="Microsoft YaHei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98464" y="1828800"/>
            <a:ext cx="1554480" cy="822960"/>
          </a:xfrm>
          <a:prstGeom prst="roundRect">
            <a:avLst/>
          </a:prstGeom>
          <a:solidFill>
            <a:srgbClr val="E5F1FB"/>
          </a:solidFill>
          <a:ln>
            <a:solidFill>
              <a:srgbClr val="C2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71616" y="19019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05C91"/>
                </a:solidFill>
                <a:latin typeface="Microsoft Ya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4496" y="1993392"/>
            <a:ext cx="1170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43450"/>
                </a:solidFill>
                <a:latin typeface="Microsoft YaHei"/>
              </a:rPr>
              <a:t>报告问题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35624" y="2322576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6606E"/>
                </a:solidFill>
                <a:latin typeface="Microsoft YaHei"/>
              </a:rPr>
              <a:t>事实/依据/分级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2671" y="2066543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91A0"/>
                </a:solidFill>
                <a:latin typeface="Microsoft YaHei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45552" y="1828800"/>
            <a:ext cx="1554480" cy="822960"/>
          </a:xfrm>
          <a:prstGeom prst="roundRect">
            <a:avLst/>
          </a:prstGeom>
          <a:solidFill>
            <a:srgbClr val="E5F1FB"/>
          </a:solidFill>
          <a:ln>
            <a:solidFill>
              <a:srgbClr val="C2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18704" y="19019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05C91"/>
                </a:solidFill>
                <a:latin typeface="Microsoft YaHe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1583" y="1993392"/>
            <a:ext cx="1170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43450"/>
                </a:solidFill>
                <a:latin typeface="Microsoft YaHei"/>
              </a:rPr>
              <a:t>整改验证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82712" y="2322576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6606E"/>
                </a:solidFill>
                <a:latin typeface="Microsoft YaHei"/>
              </a:rPr>
              <a:t>原因/CAPA/证据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59" y="2066543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91A0"/>
                </a:solidFill>
                <a:latin typeface="Microsoft YaHei"/>
              </a:rPr>
              <a:t>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92640" y="1828800"/>
            <a:ext cx="1554480" cy="822960"/>
          </a:xfrm>
          <a:prstGeom prst="roundRect">
            <a:avLst/>
          </a:prstGeom>
          <a:solidFill>
            <a:srgbClr val="E5F1FB"/>
          </a:solidFill>
          <a:ln>
            <a:solidFill>
              <a:srgbClr val="C2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65792" y="19019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05C91"/>
                </a:solidFill>
                <a:latin typeface="Microsoft YaHe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48672" y="1993392"/>
            <a:ext cx="1170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43450"/>
                </a:solidFill>
                <a:latin typeface="Microsoft YaHei"/>
              </a:rPr>
              <a:t>输入评审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2322576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6606E"/>
                </a:solidFill>
                <a:latin typeface="Microsoft YaHei"/>
              </a:rPr>
              <a:t>趋势/资源/改进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069080"/>
            <a:ext cx="10332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3450"/>
                </a:solidFill>
                <a:latin typeface="Microsoft YaHei"/>
              </a:rPr>
              <a:t>- 问题描述建议使用：事实 + 依据 + 风险影响 + 证据编号。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361688"/>
            <a:ext cx="10332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3450"/>
                </a:solidFill>
                <a:latin typeface="Microsoft YaHei"/>
              </a:rPr>
              <a:t>- 纠正措施不等于“重新培训”本身，应包含原因分析、措施、责任人、期限和有效性验证。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709160"/>
            <a:ext cx="10332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3450"/>
                </a:solidFill>
                <a:latin typeface="Microsoft YaHei"/>
              </a:rPr>
              <a:t>- 采购相关问题要关注是否影响已采购批次、库存、在制品和已交付产品。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6606E"/>
                </a:solidFill>
                <a:latin typeface="Microsoft YaHei"/>
              </a:rPr>
              <a:t>医疗体系内审员培训转训 | 供内部培训使用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62940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6606E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4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66360"/>
            <a:ext cx="12188952" cy="1691640"/>
          </a:xfrm>
          <a:prstGeom prst="rect">
            <a:avLst/>
          </a:prstGeom>
          <a:solidFill>
            <a:srgbClr val="20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第三部分：ISO 13485 与采购控制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69748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DECF8"/>
                </a:solidFill>
                <a:latin typeface="Microsoft YaHei"/>
              </a:rPr>
              <a:t>用标准条款拆解供应商准入、采购信息和来料验证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08076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DDECF8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A0"/>
                </a:solidFill>
                <a:latin typeface="Microsoft YaHei"/>
              </a:rPr>
              <a:t>ISO 13485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3450"/>
                </a:solidFill>
                <a:latin typeface="Microsoft YaHei"/>
              </a:rPr>
              <a:t>ISO 13485:2016 的结构与采购相关条款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6606E"/>
                </a:solidFill>
                <a:latin typeface="Microsoft YaHei"/>
              </a:rPr>
              <a:t>采购既受 7.4 直接约束，也与外包、记录、追溯、变更等条款联动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1005840" cy="4572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691640"/>
          <a:ext cx="1101852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840"/>
                <a:gridCol w="3672840"/>
                <a:gridCol w="3672840"/>
              </a:tblGrid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条款</a:t>
                      </a:r>
                    </a:p>
                  </a:txBody>
                  <a:tcPr marL="45720" marR="45720" marT="36576" marB="36576">
                    <a:solidFill>
                      <a:srgbClr val="205C9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主题</a:t>
                      </a:r>
                    </a:p>
                  </a:txBody>
                  <a:tcPr marL="45720" marR="45720" marT="36576" marB="36576">
                    <a:solidFill>
                      <a:srgbClr val="205C9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采购相关理解</a:t>
                      </a:r>
                    </a:p>
                  </a:txBody>
                  <a:tcPr marL="45720" marR="45720" marT="36576" marB="36576">
                    <a:solidFill>
                      <a:srgbClr val="205C91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3450"/>
                          </a:solidFill>
                          <a:latin typeface="Microsoft YaHei"/>
                        </a:rPr>
                        <a:t>4.1.5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3450"/>
                          </a:solidFill>
                          <a:latin typeface="Microsoft YaHei"/>
                        </a:rPr>
                        <a:t>外包过程控制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3450"/>
                          </a:solidFill>
                          <a:latin typeface="Microsoft YaHei"/>
                        </a:rPr>
                        <a:t>外协、委托检验、第三方服务不能脱离体系控制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3450"/>
                          </a:solidFill>
                          <a:latin typeface="Microsoft YaHei"/>
                        </a:rPr>
                        <a:t>4.2.4/4.2.5</a:t>
                      </a:r>
                    </a:p>
                  </a:txBody>
                  <a:tcPr marL="45720" marR="4572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3450"/>
                          </a:solidFill>
                          <a:latin typeface="Microsoft YaHei"/>
                        </a:rPr>
                        <a:t>文件与记录</a:t>
                      </a:r>
                    </a:p>
                  </a:txBody>
                  <a:tcPr marL="45720" marR="4572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3450"/>
                          </a:solidFill>
                          <a:latin typeface="Microsoft YaHei"/>
                        </a:rPr>
                        <a:t>供应商清单、资质、协议、订单、验收记录须受控</a:t>
                      </a:r>
                    </a:p>
                  </a:txBody>
                  <a:tcPr marL="45720" marR="45720" marT="36576" marB="36576">
                    <a:solidFill>
                      <a:srgbClr val="F4F7FA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3450"/>
                          </a:solidFill>
                          <a:latin typeface="Microsoft YaHei"/>
                        </a:rPr>
                        <a:t>7.4.1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3450"/>
                          </a:solidFill>
                          <a:latin typeface="Microsoft YaHei"/>
                        </a:rPr>
                        <a:t>采购过程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3450"/>
                          </a:solidFill>
                          <a:latin typeface="Microsoft YaHei"/>
                        </a:rPr>
                        <a:t>评价、选择、监控、重评供应商，且与风险相匹配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3450"/>
                          </a:solidFill>
                          <a:latin typeface="Microsoft YaHei"/>
                        </a:rPr>
                        <a:t>7.4.2</a:t>
                      </a:r>
                    </a:p>
                  </a:txBody>
                  <a:tcPr marL="45720" marR="4572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3450"/>
                          </a:solidFill>
                          <a:latin typeface="Microsoft YaHei"/>
                        </a:rPr>
                        <a:t>采购信息</a:t>
                      </a:r>
                    </a:p>
                  </a:txBody>
                  <a:tcPr marL="45720" marR="4572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3450"/>
                          </a:solidFill>
                          <a:latin typeface="Microsoft YaHei"/>
                        </a:rPr>
                        <a:t>明确规格、验收准则、人员/设备/过程/QMS 要求及变更通知</a:t>
                      </a:r>
                    </a:p>
                  </a:txBody>
                  <a:tcPr marL="45720" marR="45720" marT="36576" marB="36576">
                    <a:solidFill>
                      <a:srgbClr val="F4F7FA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3450"/>
                          </a:solidFill>
                          <a:latin typeface="Microsoft YaHei"/>
                        </a:rPr>
                        <a:t>7.4.3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3450"/>
                          </a:solidFill>
                          <a:latin typeface="Microsoft YaHei"/>
                        </a:rPr>
                        <a:t>采购产品验证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3450"/>
                          </a:solidFill>
                          <a:latin typeface="Microsoft YaHei"/>
                        </a:rPr>
                        <a:t>到货验收、供应商现场验证或其他验证方式要有证据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6823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3450"/>
                          </a:solidFill>
                          <a:latin typeface="Microsoft YaHei"/>
                        </a:rPr>
                        <a:t>8.2/8.5</a:t>
                      </a:r>
                    </a:p>
                  </a:txBody>
                  <a:tcPr marL="45720" marR="4572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3450"/>
                          </a:solidFill>
                          <a:latin typeface="Microsoft YaHei"/>
                        </a:rPr>
                        <a:t>监测改进/CAPA</a:t>
                      </a:r>
                    </a:p>
                  </a:txBody>
                  <a:tcPr marL="45720" marR="4572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3450"/>
                          </a:solidFill>
                          <a:latin typeface="Microsoft YaHei"/>
                        </a:rPr>
                        <a:t>供应商绩效、投诉、不合格、偏差和 CAPA 闭环</a:t>
                      </a:r>
                    </a:p>
                  </a:txBody>
                  <a:tcPr marL="45720" marR="45720" marT="36576" marB="36576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6606E"/>
                </a:solidFill>
                <a:latin typeface="Microsoft YaHei"/>
              </a:rPr>
              <a:t>医疗体系内审员培训转训 | 供内部培训使用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62940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6606E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A0"/>
                </a:solidFill>
                <a:latin typeface="Microsoft YaHei"/>
              </a:rPr>
              <a:t>ISO 13485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3450"/>
                </a:solidFill>
                <a:latin typeface="Microsoft YaHei"/>
              </a:rPr>
              <a:t>ISO 13485 7.4：采购控制三件事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6606E"/>
                </a:solidFill>
                <a:latin typeface="Microsoft YaHei"/>
              </a:rPr>
              <a:t>标准要求不只是“买合格品”，而是让采购全过程可控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1005840" cy="4572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5204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3520440" cy="91440"/>
          </a:xfrm>
          <a:prstGeom prst="rect">
            <a:avLst/>
          </a:prstGeom>
          <a:solidFill>
            <a:srgbClr val="20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05C91"/>
                </a:solidFill>
                <a:latin typeface="Microsoft YaHei"/>
              </a:rPr>
              <a:t>7.4.1 采购过程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591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建立书面程序，确保采购产品符合规定要求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877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建立供应商评价、选择、监控、重评准则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163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准则考虑供应商能力、绩效、采购产品影响和医疗器械风险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37360"/>
            <a:ext cx="35204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737360"/>
            <a:ext cx="3520440" cy="9144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019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91A0"/>
                </a:solidFill>
                <a:latin typeface="Microsoft YaHei"/>
              </a:rPr>
              <a:t>7.4.2 采购信息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591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采购要求应清晰、完整、经适当批准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877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必要时包括产品规格、验收准则、过程/设备、人员资格、QMS 要求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163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供应商应在影响符合性的变更实施前通知组织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737360"/>
            <a:ext cx="35204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737360"/>
            <a:ext cx="3520440" cy="91440"/>
          </a:xfrm>
          <a:prstGeom prst="rect">
            <a:avLst/>
          </a:prstGeom>
          <a:solidFill>
            <a:srgbClr val="E88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9019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8026"/>
                </a:solidFill>
                <a:latin typeface="Microsoft YaHei"/>
              </a:rPr>
              <a:t>7.4.3 采购产品验证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3591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规定并实施验证活动，确认采购产品满足要求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5877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验证强度与风险、供应商评价结果匹配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8163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如在供应商现场验证，应在采购信息中明确安排和放行方法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6606E"/>
                </a:solidFill>
                <a:latin typeface="Microsoft YaHei"/>
              </a:rPr>
              <a:t>医疗体系内审员培训转训 | 供内部培训使用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62940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6606E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A0"/>
                </a:solidFill>
                <a:latin typeface="Microsoft YaHei"/>
              </a:rPr>
              <a:t>供应商管理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3450"/>
                </a:solidFill>
                <a:latin typeface="Microsoft YaHei"/>
              </a:rPr>
              <a:t>供应商与采购品风险分级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6606E"/>
                </a:solidFill>
                <a:latin typeface="Microsoft YaHei"/>
              </a:rPr>
              <a:t>控制强度应与风险匹配，避免所有供应商“一刀切”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1005840" cy="4572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783080"/>
          <a:ext cx="1083564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/>
                <a:gridCol w="3611880"/>
                <a:gridCol w="3611880"/>
              </a:tblGrid>
              <a:tr h="65151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等级</a:t>
                      </a:r>
                    </a:p>
                  </a:txBody>
                  <a:tcPr marL="45720" marR="45720" marT="36576" marB="36576">
                    <a:solidFill>
                      <a:srgbClr val="205C9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对象示例</a:t>
                      </a:r>
                    </a:p>
                  </a:txBody>
                  <a:tcPr marL="45720" marR="45720" marT="36576" marB="36576">
                    <a:solidFill>
                      <a:srgbClr val="205C9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建议控制方式</a:t>
                      </a:r>
                    </a:p>
                  </a:txBody>
                  <a:tcPr marL="45720" marR="45720" marT="36576" marB="36576">
                    <a:solidFill>
                      <a:srgbClr val="205C91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3450"/>
                          </a:solidFill>
                          <a:latin typeface="Microsoft YaHei"/>
                        </a:rPr>
                        <a:t>A 关键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3450"/>
                          </a:solidFill>
                          <a:latin typeface="Microsoft YaHei"/>
                        </a:rPr>
                        <a:t>直接影响安全有效的关键原材料/组件、灭菌、外协关键过程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3450"/>
                          </a:solidFill>
                          <a:latin typeface="Microsoft YaHei"/>
                        </a:rPr>
                        <a:t>现场审核或等效评价；质量协议；首件/验证；绩效月度或季度监控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3450"/>
                          </a:solidFill>
                          <a:latin typeface="Microsoft YaHei"/>
                        </a:rPr>
                        <a:t>B 重要</a:t>
                      </a:r>
                    </a:p>
                  </a:txBody>
                  <a:tcPr marL="45720" marR="4572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3450"/>
                          </a:solidFill>
                          <a:latin typeface="Microsoft YaHei"/>
                        </a:rPr>
                        <a:t>影响质量但可通过常规检验控制的物料、关键包装、校准/检验服务</a:t>
                      </a:r>
                    </a:p>
                  </a:txBody>
                  <a:tcPr marL="45720" marR="4572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3450"/>
                          </a:solidFill>
                          <a:latin typeface="Microsoft YaHei"/>
                        </a:rPr>
                        <a:t>资质审核；样品确认；定期绩效评估；必要时二方审核</a:t>
                      </a:r>
                    </a:p>
                  </a:txBody>
                  <a:tcPr marL="45720" marR="45720" marT="36576" marB="36576">
                    <a:solidFill>
                      <a:srgbClr val="F4F7FA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3450"/>
                          </a:solidFill>
                          <a:latin typeface="Microsoft YaHei"/>
                        </a:rPr>
                        <a:t>C 一般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3450"/>
                          </a:solidFill>
                          <a:latin typeface="Microsoft YaHei"/>
                        </a:rPr>
                        <a:t>低风险辅料、办公服务、非关键耗材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3450"/>
                          </a:solidFill>
                          <a:latin typeface="Microsoft YaHei"/>
                        </a:rPr>
                        <a:t>基础资质；采购验收；异常触发重评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800600"/>
            <a:ext cx="10515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3450"/>
                </a:solidFill>
                <a:latin typeface="Microsoft YaHei"/>
              </a:rPr>
              <a:t>- 风险分级输入：产品用途、与患者/使用者接触程度、是否无菌/植入、历史质量表现、替代难度、法规要求。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48072"/>
            <a:ext cx="10515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3450"/>
                </a:solidFill>
                <a:latin typeface="Microsoft YaHei"/>
              </a:rPr>
              <a:t>- 分级结果应驱动：准入材料、审核频次、来料检验水平、质量协议深度、绩效监控频率。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6606E"/>
                </a:solidFill>
                <a:latin typeface="Microsoft YaHei"/>
              </a:rPr>
              <a:t>医疗体系内审员培训转训 | 供内部培训使用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62940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6606E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A0"/>
                </a:solidFill>
                <a:latin typeface="Microsoft YaHei"/>
              </a:rPr>
              <a:t>供应商管理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3450"/>
                </a:solidFill>
                <a:latin typeface="Microsoft YaHei"/>
              </a:rPr>
              <a:t>供应商准入：资料与评价证据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6606E"/>
                </a:solidFill>
                <a:latin typeface="Microsoft YaHei"/>
              </a:rPr>
              <a:t>合格供应商清单应由证据支撑，而不是历史习惯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1005840" cy="4572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52044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3520440" cy="91440"/>
          </a:xfrm>
          <a:prstGeom prst="rect">
            <a:avLst/>
          </a:prstGeom>
          <a:solidFill>
            <a:srgbClr val="20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5623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05C91"/>
                </a:solidFill>
                <a:latin typeface="Microsoft YaHei"/>
              </a:rPr>
              <a:t>资质与合法性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1343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营业执照、生产/经营许可证或备案凭证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4203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产品注册证/备案凭证、适用范围和规格型号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7063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授权链条、进口产品代理/报关等必要证明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91640"/>
            <a:ext cx="352044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691640"/>
            <a:ext cx="3520440" cy="9144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85623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91A0"/>
                </a:solidFill>
                <a:latin typeface="Microsoft YaHei"/>
              </a:rPr>
              <a:t>质量能力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1343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ISO 13485/ISO 9001 或同等 QMS 证据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4203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过程能力、检验能力、关键设备和人员资质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77063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样品确认、首件检验、试用/验证结果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99923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历史绩效、投诉、召回、不良事件配合能力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691640"/>
            <a:ext cx="352044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691640"/>
            <a:ext cx="3520440" cy="91440"/>
          </a:xfrm>
          <a:prstGeom prst="rect">
            <a:avLst/>
          </a:prstGeom>
          <a:solidFill>
            <a:srgbClr val="E88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85623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8026"/>
                </a:solidFill>
                <a:latin typeface="Microsoft YaHei"/>
              </a:rPr>
              <a:t>审批与维护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31343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准入评价结论和批准人应清晰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54203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纳入合格供应商清单后方可采购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77063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证照到期、重大变更、绩效异常触发重评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99923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停用/限用供应商应及时同步采购系统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6606E"/>
                </a:solidFill>
                <a:latin typeface="Microsoft YaHei"/>
              </a:rPr>
              <a:t>医疗体系内审员培训转训 | 供内部培训使用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62940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6606E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A0"/>
                </a:solidFill>
                <a:latin typeface="Microsoft YaHei"/>
              </a:rPr>
              <a:t>采购执行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3450"/>
                </a:solidFill>
                <a:latin typeface="Microsoft YaHei"/>
              </a:rPr>
              <a:t>采购信息与质量协议：要把要求写清楚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6606E"/>
                </a:solidFill>
                <a:latin typeface="Microsoft YaHei"/>
              </a:rPr>
              <a:t>如果要求没有被传递，后续验收和争议处理就缺少依据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1005840" cy="4572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737360"/>
          <a:ext cx="1083564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7820"/>
                <a:gridCol w="5417820"/>
              </a:tblGrid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文件/信息</a:t>
                      </a:r>
                    </a:p>
                  </a:txBody>
                  <a:tcPr marL="45720" marR="45720" marT="36576" marB="36576">
                    <a:solidFill>
                      <a:srgbClr val="205C9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至少应覆盖的内容</a:t>
                      </a:r>
                    </a:p>
                  </a:txBody>
                  <a:tcPr marL="45720" marR="45720" marT="36576" marB="36576">
                    <a:solidFill>
                      <a:srgbClr val="205C91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3450"/>
                          </a:solidFill>
                          <a:latin typeface="Microsoft YaHei"/>
                        </a:rPr>
                        <a:t>采购订单/合同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3450"/>
                          </a:solidFill>
                          <a:latin typeface="Microsoft YaHei"/>
                        </a:rPr>
                        <a:t>名称、规格型号、数量、版本、图纸/标准、批号/效期、交付和储运要求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3450"/>
                          </a:solidFill>
                          <a:latin typeface="Microsoft YaHei"/>
                        </a:rPr>
                        <a:t>技术/质量要求</a:t>
                      </a:r>
                    </a:p>
                  </a:txBody>
                  <a:tcPr marL="45720" marR="4572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3450"/>
                          </a:solidFill>
                          <a:latin typeface="Microsoft YaHei"/>
                        </a:rPr>
                        <a:t>关键质量属性、检验标准、COA/COC、标签说明书、UDI、包装和清洁/无菌要求</a:t>
                      </a:r>
                    </a:p>
                  </a:txBody>
                  <a:tcPr marL="45720" marR="45720" marT="36576" marB="36576">
                    <a:solidFill>
                      <a:srgbClr val="F4F7F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3450"/>
                          </a:solidFill>
                          <a:latin typeface="Microsoft YaHei"/>
                        </a:rPr>
                        <a:t>质量协议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3450"/>
                          </a:solidFill>
                          <a:latin typeface="Microsoft YaHei"/>
                        </a:rPr>
                        <a:t>质量责任、变更通知、偏差和不合格处理、追溯、召回、投诉/不良事件配合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3450"/>
                          </a:solidFill>
                          <a:latin typeface="Microsoft YaHei"/>
                        </a:rPr>
                        <a:t>外包/外协约定</a:t>
                      </a:r>
                    </a:p>
                  </a:txBody>
                  <a:tcPr marL="45720" marR="4572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3450"/>
                          </a:solidFill>
                          <a:latin typeface="Microsoft YaHei"/>
                        </a:rPr>
                        <a:t>工艺控制、验证状态、放行权限、记录留存、监管检查配合、再委托限制</a:t>
                      </a:r>
                    </a:p>
                  </a:txBody>
                  <a:tcPr marL="45720" marR="45720" marT="36576" marB="36576">
                    <a:solidFill>
                      <a:srgbClr val="F4F7F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3450"/>
                          </a:solidFill>
                          <a:latin typeface="Microsoft YaHei"/>
                        </a:rPr>
                        <a:t>变更通知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3450"/>
                          </a:solidFill>
                          <a:latin typeface="Microsoft YaHei"/>
                        </a:rPr>
                        <a:t>影响符合性的物料、工艺、场地、设备、关键人员、检验方法、供应链变化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6606E"/>
                </a:solidFill>
                <a:latin typeface="Microsoft YaHei"/>
              </a:rPr>
              <a:t>医疗体系内审员培训转训 | 供内部培训使用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62940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6606E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A0"/>
                </a:solidFill>
                <a:latin typeface="Microsoft YaHei"/>
              </a:rPr>
              <a:t>采购执行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3450"/>
                </a:solidFill>
                <a:latin typeface="Microsoft YaHei"/>
              </a:rPr>
              <a:t>到货验收、追溯与记录保存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6606E"/>
                </a:solidFill>
                <a:latin typeface="Microsoft YaHei"/>
              </a:rPr>
              <a:t>验收不是收货签字，而是采购产品放行前的质量确认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1005840" cy="4572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5204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3520440" cy="91440"/>
          </a:xfrm>
          <a:prstGeom prst="rect">
            <a:avLst/>
          </a:prstGeom>
          <a:solidFill>
            <a:srgbClr val="20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05C91"/>
                </a:solidFill>
                <a:latin typeface="Microsoft YaHei"/>
              </a:rPr>
              <a:t>到货验收看什么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591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供应商、产品、规格、数量、批号/序列号与订单一致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877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包装、标签、说明书、合格证明、效期和运输条件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163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冷链/温控、无菌包装、植入/高值耗材等特殊要求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37360"/>
            <a:ext cx="35204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737360"/>
            <a:ext cx="3520440" cy="9144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019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91A0"/>
                </a:solidFill>
                <a:latin typeface="Microsoft YaHei"/>
              </a:rPr>
              <a:t>追溯要做到什么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591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能从采购记录追到供应商、批次、验收、库存、使用/销售去向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877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UDI 适用时纳入验收、出库复核和信息系统控制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163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异常批次能快速隔离、评估和召回/追回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737360"/>
            <a:ext cx="35204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737360"/>
            <a:ext cx="3520440" cy="91440"/>
          </a:xfrm>
          <a:prstGeom prst="rect">
            <a:avLst/>
          </a:prstGeom>
          <a:solidFill>
            <a:srgbClr val="E88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9019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8026"/>
                </a:solidFill>
                <a:latin typeface="Microsoft YaHei"/>
              </a:rPr>
              <a:t>记录原则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3591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真实、准确、完整、及时、可追溯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5877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电子记录应有权限、备份、审计追踪或等效控制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8163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保存期限按法规、标准和公司文件中更严要求执行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6606E"/>
                </a:solidFill>
                <a:latin typeface="Microsoft YaHei"/>
              </a:rPr>
              <a:t>医疗体系内审员培训转训 | 供内部培训使用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62940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6606E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A0"/>
                </a:solidFill>
                <a:latin typeface="Microsoft YaHei"/>
              </a:rPr>
              <a:t>外部过程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3450"/>
                </a:solidFill>
                <a:latin typeface="Microsoft YaHei"/>
              </a:rPr>
              <a:t>委托、外协与服务采购控制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6606E"/>
                </a:solidFill>
                <a:latin typeface="Microsoft YaHei"/>
              </a:rPr>
              <a:t>外部方完成的过程，仍然需要纳入组织的质量管理体系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1005840" cy="4572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5204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3520440" cy="91440"/>
          </a:xfrm>
          <a:prstGeom prst="rect">
            <a:avLst/>
          </a:prstGeom>
          <a:solidFill>
            <a:srgbClr val="20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4767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05C91"/>
                </a:solidFill>
                <a:latin typeface="Microsoft YaHei"/>
              </a:rPr>
              <a:t>常见外部过程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048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外协加工、灭菌、包装、检验检测、校准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334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第三方仓储/物流、冷链运输、售后服务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620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软件/信息系统服务、电子记录平台维护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83080"/>
            <a:ext cx="35204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783080"/>
            <a:ext cx="3520440" cy="9144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4767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91A0"/>
                </a:solidFill>
                <a:latin typeface="Microsoft YaHei"/>
              </a:rPr>
              <a:t>控制重点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048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委托前进行能力和质量体系评价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6334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明确质量协议、工艺/检验标准和记录要求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620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关键过程验证确认状态持续受控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0906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再委托、变更、偏差、不合格须受控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783080"/>
            <a:ext cx="35204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783080"/>
            <a:ext cx="3520440" cy="91440"/>
          </a:xfrm>
          <a:prstGeom prst="rect">
            <a:avLst/>
          </a:prstGeom>
          <a:solidFill>
            <a:srgbClr val="E88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94767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8026"/>
                </a:solidFill>
                <a:latin typeface="Microsoft YaHei"/>
              </a:rPr>
              <a:t>内审追问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4048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哪些过程外包了？风险分级是什么？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6334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有没有批准的供应商和质量协议？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8620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外包方记录如何获取、审核和保存？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0906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发生异常时谁决策放行/停用？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6606E"/>
                </a:solidFill>
                <a:latin typeface="Microsoft YaHei"/>
              </a:rPr>
              <a:t>医疗体系内审员培训转训 | 供内部培训使用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62940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6606E"/>
                </a:solidFill>
                <a:latin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4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66360"/>
            <a:ext cx="12188952" cy="1691640"/>
          </a:xfrm>
          <a:prstGeom prst="rect">
            <a:avLst/>
          </a:prstGeom>
          <a:solidFill>
            <a:srgbClr val="20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第四部分：采购内审实操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69748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DECF8"/>
                </a:solidFill>
                <a:latin typeface="Microsoft YaHei"/>
              </a:rPr>
              <a:t>用检查表、典型问题和行动清单推动落地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08076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DDECF8"/>
                </a:solidFill>
                <a:latin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A0"/>
                </a:solidFill>
                <a:latin typeface="Microsoft YaHei"/>
              </a:rPr>
              <a:t>内审工具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3450"/>
                </a:solidFill>
                <a:latin typeface="Microsoft YaHei"/>
              </a:rPr>
              <a:t>采购内审检查表：建议抽样问题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6606E"/>
                </a:solidFill>
                <a:latin typeface="Microsoft YaHei"/>
              </a:rPr>
              <a:t>可根据公司程序编号、产品类别和供应商等级继续细化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1005840" cy="4572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00200"/>
          <a:ext cx="1120140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/>
                <a:gridCol w="3733800"/>
                <a:gridCol w="3733800"/>
              </a:tblGrid>
              <a:tr h="63354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检查主题</a:t>
                      </a:r>
                    </a:p>
                  </a:txBody>
                  <a:tcPr marL="45720" marR="45720" marT="36576" marB="36576">
                    <a:solidFill>
                      <a:srgbClr val="205C9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审核问题</a:t>
                      </a:r>
                    </a:p>
                  </a:txBody>
                  <a:tcPr marL="45720" marR="45720" marT="36576" marB="36576">
                    <a:solidFill>
                      <a:srgbClr val="205C9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证据示例</a:t>
                      </a:r>
                    </a:p>
                  </a:txBody>
                  <a:tcPr marL="45720" marR="45720" marT="36576" marB="36576">
                    <a:solidFill>
                      <a:srgbClr val="205C91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43450"/>
                          </a:solidFill>
                          <a:latin typeface="Microsoft YaHei"/>
                        </a:rPr>
                        <a:t>供应商准入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43450"/>
                          </a:solidFill>
                          <a:latin typeface="Microsoft YaHei"/>
                        </a:rPr>
                        <a:t>关键供应商是否已评价批准？评价是否基于风险？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43450"/>
                          </a:solidFill>
                          <a:latin typeface="Microsoft YaHei"/>
                        </a:rPr>
                        <a:t>供应商档案、评价表、ASL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43450"/>
                          </a:solidFill>
                          <a:latin typeface="Microsoft YaHei"/>
                        </a:rPr>
                        <a:t>证照资质</a:t>
                      </a:r>
                    </a:p>
                  </a:txBody>
                  <a:tcPr marL="45720" marR="4572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43450"/>
                          </a:solidFill>
                          <a:latin typeface="Microsoft YaHei"/>
                        </a:rPr>
                        <a:t>供应商和产品证照是否有效、范围是否匹配？</a:t>
                      </a:r>
                    </a:p>
                  </a:txBody>
                  <a:tcPr marL="45720" marR="4572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43450"/>
                          </a:solidFill>
                          <a:latin typeface="Microsoft YaHei"/>
                        </a:rPr>
                        <a:t>许可证/备案、注册证/备案、授权</a:t>
                      </a:r>
                    </a:p>
                  </a:txBody>
                  <a:tcPr marL="45720" marR="45720" marT="36576" marB="36576">
                    <a:solidFill>
                      <a:srgbClr val="F4F7FA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43450"/>
                          </a:solidFill>
                          <a:latin typeface="Microsoft YaHei"/>
                        </a:rPr>
                        <a:t>采购信息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43450"/>
                          </a:solidFill>
                          <a:latin typeface="Microsoft YaHei"/>
                        </a:rPr>
                        <a:t>订单/合同是否完整传递技术和质量要求？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43450"/>
                          </a:solidFill>
                          <a:latin typeface="Microsoft YaHei"/>
                        </a:rPr>
                        <a:t>订单、图纸、标准、质量协议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43450"/>
                          </a:solidFill>
                          <a:latin typeface="Microsoft YaHei"/>
                        </a:rPr>
                        <a:t>变更控制</a:t>
                      </a:r>
                    </a:p>
                  </a:txBody>
                  <a:tcPr marL="45720" marR="4572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43450"/>
                          </a:solidFill>
                          <a:latin typeface="Microsoft YaHei"/>
                        </a:rPr>
                        <a:t>供应商变更是否提前通知并经评估批准？</a:t>
                      </a:r>
                    </a:p>
                  </a:txBody>
                  <a:tcPr marL="45720" marR="4572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43450"/>
                          </a:solidFill>
                          <a:latin typeface="Microsoft YaHei"/>
                        </a:rPr>
                        <a:t>变更通知、评估记录、验证报告</a:t>
                      </a:r>
                    </a:p>
                  </a:txBody>
                  <a:tcPr marL="45720" marR="45720" marT="36576" marB="36576">
                    <a:solidFill>
                      <a:srgbClr val="F4F7FA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43450"/>
                          </a:solidFill>
                          <a:latin typeface="Microsoft YaHei"/>
                        </a:rPr>
                        <a:t>来料验收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43450"/>
                          </a:solidFill>
                          <a:latin typeface="Microsoft YaHei"/>
                        </a:rPr>
                        <a:t>验收项目、抽样、判定和不合格处理是否符合程序？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43450"/>
                          </a:solidFill>
                          <a:latin typeface="Microsoft YaHei"/>
                        </a:rPr>
                        <a:t>验收记录、COA/COC、NCR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3355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43450"/>
                          </a:solidFill>
                          <a:latin typeface="Microsoft YaHei"/>
                        </a:rPr>
                        <a:t>绩效重评</a:t>
                      </a:r>
                    </a:p>
                  </a:txBody>
                  <a:tcPr marL="45720" marR="4572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43450"/>
                          </a:solidFill>
                          <a:latin typeface="Microsoft YaHei"/>
                        </a:rPr>
                        <a:t>供应商绩效是否定期统计并触发措施？</a:t>
                      </a:r>
                    </a:p>
                  </a:txBody>
                  <a:tcPr marL="45720" marR="4572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43450"/>
                          </a:solidFill>
                          <a:latin typeface="Microsoft YaHei"/>
                        </a:rPr>
                        <a:t>KPI、投诉/退货、CAPA、重评记录</a:t>
                      </a:r>
                    </a:p>
                  </a:txBody>
                  <a:tcPr marL="45720" marR="45720" marT="36576" marB="36576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6606E"/>
                </a:solidFill>
                <a:latin typeface="Microsoft YaHei"/>
              </a:rPr>
              <a:t>医疗体系内审员培训转训 | 供内部培训使用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62940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6606E"/>
                </a:solidFill>
                <a:latin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A0"/>
                </a:solidFill>
                <a:latin typeface="Microsoft YaHei"/>
              </a:rPr>
              <a:t>问题识别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3450"/>
                </a:solidFill>
                <a:latin typeface="Microsoft YaHei"/>
              </a:rPr>
              <a:t>典型不符合与风险提示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6606E"/>
                </a:solidFill>
                <a:latin typeface="Microsoft YaHei"/>
              </a:rPr>
              <a:t>以下问题在内审、客户审核和监管检查中较常见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1005840" cy="4572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52044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3520440" cy="91440"/>
          </a:xfrm>
          <a:prstGeom prst="rect">
            <a:avLst/>
          </a:prstGeom>
          <a:solidFill>
            <a:srgbClr val="BE3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E3F36"/>
                </a:solidFill>
                <a:latin typeface="Microsoft YaHei"/>
              </a:rPr>
              <a:t>文件与清单类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591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合格供应商清单与系统可下单供应商不一致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877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供应商证照过期仍未暂停采购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163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质量协议版本旧，未覆盖变更通知和追溯要求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37360"/>
            <a:ext cx="352044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737360"/>
            <a:ext cx="3520440" cy="91440"/>
          </a:xfrm>
          <a:prstGeom prst="rect">
            <a:avLst/>
          </a:prstGeom>
          <a:solidFill>
            <a:srgbClr val="E88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019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8026"/>
                </a:solidFill>
                <a:latin typeface="Microsoft YaHei"/>
              </a:rPr>
              <a:t>执行与记录类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591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采购订单未写明关键规格/版本/验收要求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877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验收记录缺批号、效期、标签/包装确认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163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紧急采购后未补齐质量评估和批准证据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737360"/>
            <a:ext cx="352044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737360"/>
            <a:ext cx="3520440" cy="91440"/>
          </a:xfrm>
          <a:prstGeom prst="rect">
            <a:avLst/>
          </a:prstGeom>
          <a:solidFill>
            <a:srgbClr val="20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9019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05C91"/>
                </a:solidFill>
                <a:latin typeface="Microsoft YaHei"/>
              </a:rPr>
              <a:t>闭环与改进类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3591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供应商绩效异常未触发 CAPA 或重评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5877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供应商变更未经内部风险评估即接收产品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8163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同类来料不合格重复发生但根因分析不足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6606E"/>
                </a:solidFill>
                <a:latin typeface="Microsoft YaHei"/>
              </a:rPr>
              <a:t>医疗体系内审员培训转训 | 供内部培训使用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62940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6606E"/>
                </a:solidFill>
                <a:latin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A0"/>
                </a:solidFill>
                <a:latin typeface="Microsoft YaHei"/>
              </a:rPr>
              <a:t>行动计划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3450"/>
                </a:solidFill>
                <a:latin typeface="Microsoft YaHei"/>
              </a:rPr>
              <a:t>培训落地：采购部门行动清单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6606E"/>
                </a:solidFill>
                <a:latin typeface="Microsoft YaHei"/>
              </a:rPr>
              <a:t>建议培训后 1 周内形成部门自查和整改计划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1005840" cy="4572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5204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3520440" cy="91440"/>
          </a:xfrm>
          <a:prstGeom prst="rect">
            <a:avLst/>
          </a:prstGeom>
          <a:solidFill>
            <a:srgbClr val="20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05C91"/>
                </a:solidFill>
                <a:latin typeface="Microsoft YaHei"/>
              </a:rPr>
              <a:t>立即自查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591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抽查关键供应商档案完整性和证照有效期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877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核对 ASL、ERP/采购系统和实际采购记录一致性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163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抽查最近 3 批关键物料验收与追溯记录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37360"/>
            <a:ext cx="35204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737360"/>
            <a:ext cx="3520440" cy="9144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019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91A0"/>
                </a:solidFill>
                <a:latin typeface="Microsoft YaHei"/>
              </a:rPr>
              <a:t>短期优化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591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更新供应商风险分级规则和重评频次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877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补强质量协议模板：变更、追溯、召回、数据完整性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163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建立证照到期和绩效异常预警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737360"/>
            <a:ext cx="35204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737360"/>
            <a:ext cx="3520440" cy="91440"/>
          </a:xfrm>
          <a:prstGeom prst="rect">
            <a:avLst/>
          </a:prstGeom>
          <a:solidFill>
            <a:srgbClr val="4A8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9019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A8D5C"/>
                </a:solidFill>
                <a:latin typeface="Microsoft YaHei"/>
              </a:rPr>
              <a:t>持续机制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3591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每月 review 供应商质量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5877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重大异常纳入 CAPA 和管理评审输入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81635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3450"/>
                </a:solidFill>
                <a:latin typeface="Microsoft YaHei"/>
              </a:rPr>
              <a:t>- 采购、质量、研发、仓储联合评审关键供应商变化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6606E"/>
                </a:solidFill>
                <a:latin typeface="Microsoft YaHei"/>
              </a:rPr>
              <a:t>医疗体系内审员培训转训 | 供内部培训使用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62940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6606E"/>
                </a:solidFill>
                <a:latin typeface="Microsoft Ya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A0"/>
                </a:solidFill>
                <a:latin typeface="Microsoft YaHei"/>
              </a:rPr>
              <a:t>互动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3450"/>
                </a:solidFill>
                <a:latin typeface="Microsoft YaHei"/>
              </a:rPr>
              <a:t>课堂讨论 / 小测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6606E"/>
                </a:solidFill>
                <a:latin typeface="Microsoft YaHei"/>
              </a:rPr>
              <a:t>可用于培训结束前确认理解效果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1005840" cy="4572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3450"/>
                </a:solidFill>
                <a:latin typeface="Microsoft YaHei"/>
              </a:rPr>
              <a:t>- 问题 1：某关键供应商 ISO 13485 证书过期 2 个月，但历史供货稳定，是否可以继续采购？需要哪些评估和批准？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58568"/>
            <a:ext cx="10515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3450"/>
                </a:solidFill>
                <a:latin typeface="Microsoft YaHei"/>
              </a:rPr>
              <a:t>- 问题 2：供应商将关键原材料产地从 A 厂变更为 B 厂，但没有提前通知。采购、质量和研发应如何处理？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34056"/>
            <a:ext cx="10515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3450"/>
                </a:solidFill>
                <a:latin typeface="Microsoft YaHei"/>
              </a:rPr>
              <a:t>- 问题 3：内审抽样发现 3 份来料验收记录缺少批号，这属于记录问题还是追溯风险？如何写不符合？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09544"/>
            <a:ext cx="10515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3450"/>
                </a:solidFill>
                <a:latin typeface="Microsoft YaHei"/>
              </a:rPr>
              <a:t>- 问题 4：哪些供应商必须签质量协议？质量协议应至少覆盖哪些条款？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30168"/>
            <a:ext cx="10515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3450"/>
                </a:solidFill>
                <a:latin typeface="Microsoft YaHei"/>
              </a:rPr>
              <a:t>- 问题 5：公司如果使用第三方冷链运输，采购和质量各自应保留哪些证据？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5780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8026"/>
                </a:solidFill>
                <a:latin typeface="Microsoft YaHei"/>
              </a:rPr>
              <a:t>建议做法：每题请 1 位同事回答，再由质量/采购负责人补充公司现行流程要求。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6606E"/>
                </a:solidFill>
                <a:latin typeface="Microsoft YaHei"/>
              </a:rPr>
              <a:t>医疗体系内审员培训转训 | 供内部培训使用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62940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6606E"/>
                </a:solidFill>
                <a:latin typeface="Microsoft Ya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A0"/>
                </a:solidFill>
                <a:latin typeface="Microsoft YaHei"/>
              </a:rPr>
              <a:t>参考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3450"/>
                </a:solidFill>
                <a:latin typeface="Microsoft YaHei"/>
              </a:rPr>
              <a:t>参考资料与使用提示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6606E"/>
                </a:solidFill>
                <a:latin typeface="Microsoft YaHei"/>
              </a:rPr>
              <a:t>培训内容建议与公司现行质量手册、程序文件和表单一起使用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1005840" cy="4572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3450"/>
                </a:solidFill>
                <a:latin typeface="Microsoft YaHei"/>
              </a:rPr>
              <a:t>- 《医疗器械监督管理条例》及配套注册、生产、经营监管规章。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10515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3450"/>
                </a:solidFill>
                <a:latin typeface="Microsoft YaHei"/>
              </a:rPr>
              <a:t>- 国家药监局公告 2023 年第 153 号：《医疗器械经营质量管理规范》，2024-07-01 施行。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78024"/>
            <a:ext cx="10515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3450"/>
                </a:solidFill>
                <a:latin typeface="Microsoft YaHei"/>
              </a:rPr>
              <a:t>- 国家药监局公告 2025 年第 107 号：《医疗器械生产质量管理规范》，2026-11-01 施行。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52928"/>
            <a:ext cx="10515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3450"/>
                </a:solidFill>
                <a:latin typeface="Microsoft YaHei"/>
              </a:rPr>
              <a:t>- ISO 13485:2016《医疗器械 质量管理体系 用于法规的要求》，重点关注 4.1.5、4.2、7.4、8.5。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27832"/>
            <a:ext cx="10515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3450"/>
                </a:solidFill>
                <a:latin typeface="Microsoft YaHei"/>
              </a:rPr>
              <a:t>- 公司内部质量手册、采购控制程序、供应商管理程序、来料检验程序、CAPA/变更控制程序。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800600"/>
            <a:ext cx="10469880" cy="777240"/>
          </a:xfrm>
          <a:prstGeom prst="roundRect">
            <a:avLst/>
          </a:prstGeom>
          <a:solidFill>
            <a:srgbClr val="E5F1FB"/>
          </a:solidFill>
          <a:ln>
            <a:solidFill>
              <a:srgbClr val="C2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992624"/>
            <a:ext cx="10012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3450"/>
                </a:solidFill>
                <a:latin typeface="Microsoft YaHei"/>
              </a:rPr>
              <a:t>使用提示：本 PPT 为内部培训资料，不替代法规原文、认证机构要求或公司正式受控文件；用于具体项目时，请按最新法规原文和公司程序确认。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6606E"/>
                </a:solidFill>
                <a:latin typeface="Microsoft YaHei"/>
              </a:rPr>
              <a:t>医疗体系内审员培训转训 | 供内部培训使用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62940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6606E"/>
                </a:solidFill>
                <a:latin typeface="Microsoft YaHei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