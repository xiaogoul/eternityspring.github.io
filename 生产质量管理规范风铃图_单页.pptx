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473952"/>
          </a:xfrm>
          <a:prstGeom prst="rect">
            <a:avLst/>
          </a:prstGeom>
          <a:noFill/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64592" y="164592"/>
            <a:ext cx="1234440" cy="960120"/>
          </a:xfrm>
          <a:prstGeom prst="rtTriangl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292608" cy="868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5852160"/>
            <a:ext cx="292608" cy="640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09160" y="713232"/>
            <a:ext cx="278892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icrosoft YaHei"/>
              </a:defRPr>
            </a:pPr>
            <a:r>
              <a:t>医疗器械生产质量管理规范</a:t>
            </a:r>
          </a:p>
          <a:p>
            <a:pPr algn="ctr">
              <a:defRPr sz="919" b="1">
                <a:solidFill>
                  <a:srgbClr val="FFFFFF"/>
                </a:solidFill>
                <a:latin typeface="Microsoft YaHei"/>
              </a:defRPr>
            </a:pPr>
            <a:r>
              <a:t>（2025年第107号）</a:t>
            </a:r>
          </a:p>
          <a:p>
            <a:pPr algn="ctr">
              <a:defRPr sz="919" b="1">
                <a:solidFill>
                  <a:srgbClr val="FFFFFF"/>
                </a:solidFill>
                <a:latin typeface="Microsoft YaHei"/>
              </a:defRPr>
            </a:pPr>
            <a:r>
              <a:t>共132条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1664208"/>
            <a:ext cx="102412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1243584"/>
            <a:ext cx="0" cy="42062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9284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14400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一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总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4228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09344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二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机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构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人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9172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04288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三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厂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房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设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4116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99232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四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设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09060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94176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五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文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件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管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04004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89120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六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设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计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开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98948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84064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七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采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购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原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材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料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管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3892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779008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八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验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确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88836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73952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九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生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产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管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3779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168896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质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量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控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制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产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放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78723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863840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一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销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售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售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服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3667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558784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二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不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合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格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控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68612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253728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三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不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良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事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件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监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测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分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析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和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改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63556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948672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四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委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托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生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产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与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外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协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858500" y="1664208"/>
            <a:ext cx="0" cy="3291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643616" y="1993392"/>
            <a:ext cx="429768" cy="1664208"/>
          </a:xfrm>
          <a:prstGeom prst="rect">
            <a:avLst/>
          </a:prstGeom>
          <a:solidFill>
            <a:srgbClr val="84848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第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十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五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章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附</a:t>
            </a:r>
          </a:p>
          <a:p>
            <a:pPr algn="ctr">
              <a:defRPr sz="660" b="1">
                <a:solidFill>
                  <a:srgbClr val="191919"/>
                </a:solidFill>
                <a:latin typeface="Microsoft YaHei"/>
              </a:defRPr>
            </a:pPr>
            <a:r>
              <a:t>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4160520"/>
            <a:ext cx="102412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生产质量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管理规范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无菌医疗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器械现场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检查指导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原则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24228" y="3657600"/>
            <a:ext cx="0" cy="338328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133856" y="3995928"/>
            <a:ext cx="690372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3856" y="3995928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719072" y="4160520"/>
            <a:ext cx="102412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生产质量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管理规范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植入性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现场检查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指导原则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19172" y="3657600"/>
            <a:ext cx="0" cy="338328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231136" y="3995928"/>
            <a:ext cx="288036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31136" y="3995928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816352" y="4160520"/>
            <a:ext cx="102412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生产质量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管理规范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体外诊断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试剂现场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检查指导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原则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14116" y="3657600"/>
            <a:ext cx="0" cy="338328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214116" y="3995928"/>
            <a:ext cx="114300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328416" y="3995928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913632" y="4160520"/>
            <a:ext cx="102412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生产质量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管理规范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定制式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义齿现场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检查指导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原则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909060" y="3657600"/>
            <a:ext cx="0" cy="338328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909060" y="3995928"/>
            <a:ext cx="516636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425696" y="3995928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8006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唯一标识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系统规则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298948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266944" y="4882896"/>
            <a:ext cx="32004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2669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7150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注册与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备案管理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办法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993892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993892" y="4882896"/>
            <a:ext cx="187452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1813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6294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产品技术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要求编写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指导原则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383779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095744" y="4882896"/>
            <a:ext cx="288035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0957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5438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说明书和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标签管理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规定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83779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383779" y="4882896"/>
            <a:ext cx="626365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101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4582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不良事件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监测和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再评价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管理办法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468612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8924544" y="4882896"/>
            <a:ext cx="544068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9245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3726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召回管理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办法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468612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468612" y="4882896"/>
            <a:ext cx="370332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389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10287000" y="5047488"/>
            <a:ext cx="9326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医疗器械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委托生产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质量协议</a:t>
            </a:r>
          </a:p>
          <a:p>
            <a:pPr algn="ctr">
              <a:defRPr sz="590" b="1">
                <a:solidFill>
                  <a:srgbClr val="191919"/>
                </a:solidFill>
                <a:latin typeface="Microsoft YaHei"/>
              </a:defRPr>
            </a:pPr>
            <a:r>
              <a:t>编制指南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163556" y="3657600"/>
            <a:ext cx="0" cy="1225296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163556" y="4882896"/>
            <a:ext cx="589788" cy="0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753344" y="4882896"/>
            <a:ext cx="0" cy="164592"/>
          </a:xfrm>
          <a:prstGeom prst="line">
            <a:avLst/>
          </a:prstGeom>
          <a:ln w="10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21792" y="3959352"/>
            <a:ext cx="4315968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824228" y="3657600"/>
            <a:ext cx="0" cy="30175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00600" y="4818888"/>
            <a:ext cx="6419088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383779" y="3657600"/>
            <a:ext cx="0" cy="116128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5488" y="6272784"/>
            <a:ext cx="7132320" cy="2011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defRPr sz="819" b="1">
                <a:solidFill>
                  <a:srgbClr val="191919"/>
                </a:solidFill>
                <a:latin typeface="Microsoft YaHei"/>
              </a:defRPr>
            </a:pPr>
            <a:r>
              <a:t>深圳市坪山区医药产业发展协会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60920" y="6272784"/>
            <a:ext cx="4343400" cy="2011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r">
              <a:defRPr sz="720" b="0">
                <a:solidFill>
                  <a:srgbClr val="191919"/>
                </a:solidFill>
                <a:latin typeface="Microsoft YaHei"/>
              </a:defRPr>
            </a:pPr>
            <a:r>
              <a:t>地址：深圳市坪山区金辉路14号    电话：0755-xxxxxxx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医疗器械生产质量管理规范风铃图</dc:title>
  <dc:subject>按照参考图片重绘的法规风铃图单页</dc:subject>
  <dc:creator>Cursor Cloud Agent</dc:creator>
  <cp:keywords>法规风铃图, 医疗器械生产质量管理规范, GMP, 单页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