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D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685800"/>
            <a:ext cx="3474720" cy="3474720"/>
          </a:xfrm>
          <a:prstGeom prst="ellipse">
            <a:avLst/>
          </a:prstGeom>
          <a:solidFill>
            <a:srgbClr val="1C52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69680" y="4114800"/>
            <a:ext cx="2011680" cy="2011680"/>
          </a:xfrm>
          <a:prstGeom prst="ellipse">
            <a:avLst/>
          </a:prstGeom>
          <a:solidFill>
            <a:srgbClr val="0069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8412480" cy="10058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3400" b="1">
                <a:solidFill>
                  <a:srgbClr val="FFFFFF"/>
                </a:solidFill>
                <a:latin typeface="Microsoft YaHei"/>
              </a:defRPr>
            </a:pPr>
            <a:r>
              <a:t>医疗器械采购合规与法规体系培训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331720"/>
            <a:ext cx="8138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900" b="0">
                <a:solidFill>
                  <a:srgbClr val="CEEDE9"/>
                </a:solidFill>
                <a:latin typeface="Microsoft YaHei"/>
              </a:defRPr>
            </a:pPr>
            <a:r>
              <a:t>定义 · 分类 · 全生命周期 · 采购关键控制点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154680"/>
            <a:ext cx="1920240" cy="384048"/>
          </a:xfrm>
          <a:prstGeom prst="roundRect">
            <a:avLst/>
          </a:prstGeom>
          <a:solidFill>
            <a:srgbClr val="E6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006064"/>
                </a:solidFill>
                <a:latin typeface="Microsoft YaHei"/>
              </a:defRPr>
            </a:pPr>
            <a:r>
              <a:t>采购/供应链视角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6080760"/>
            <a:ext cx="80467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00" b="0">
                <a:solidFill>
                  <a:srgbClr val="DCE6EB"/>
                </a:solidFill>
                <a:latin typeface="Microsoft YaHei"/>
              </a:defRPr>
            </a:pPr>
            <a:r>
              <a:t>适用于医疗器械经营、使用单位及供应链采购内训参考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本次培训解决什么问题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43000"/>
            <a:ext cx="3429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143000"/>
            <a:ext cx="73152" cy="11430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25272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1. 认识对象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618488"/>
            <a:ext cx="3118104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什么是医疗器械</a:t>
            </a:r>
          </a:p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与药品、普通设备、耗材的边界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43000"/>
            <a:ext cx="3429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143000"/>
            <a:ext cx="73152" cy="11430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25272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2. 看懂分类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618488"/>
            <a:ext cx="3118104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I/II/III 类风险分级</a:t>
            </a:r>
          </a:p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注册、备案、经营许可/备案差异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143000"/>
            <a:ext cx="3429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143000"/>
            <a:ext cx="73152" cy="11430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125272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3. 理解体系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1618488"/>
            <a:ext cx="3118104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采购为什么要懂法规和质量体系</a:t>
            </a:r>
          </a:p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采购在全生命周期中的位置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880360"/>
            <a:ext cx="3429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2880360"/>
            <a:ext cx="73152" cy="1143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299008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4. 全生命周期风铃图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3355848"/>
            <a:ext cx="3118104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从需求、供应商准入到验收、贮存、召回</a:t>
            </a:r>
          </a:p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逐项挂接控制点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2880360"/>
            <a:ext cx="3429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2880360"/>
            <a:ext cx="73152" cy="11430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8" y="299008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5. 采购相关法规细则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3355848"/>
            <a:ext cx="3118104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法规地图、关键条款、记录保存</a:t>
            </a:r>
          </a:p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合同/订单/验收证据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79" y="2880360"/>
            <a:ext cx="34290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83879" y="2880360"/>
            <a:ext cx="73152" cy="11430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5048" y="299008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6. 日常工作注意事项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355848"/>
            <a:ext cx="3118104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资质、证照、冷链、UDI、批号效期</a:t>
            </a:r>
          </a:p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常见红线与自查清单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20640"/>
            <a:ext cx="109728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0000"/>
              </a:lnSpc>
              <a:defRPr sz="1800" b="1">
                <a:solidFill>
                  <a:srgbClr val="0F2D41"/>
                </a:solidFill>
                <a:latin typeface="Microsoft YaHei"/>
              </a:defRPr>
            </a:pPr>
            <a:r>
              <a:t>目标：让采购人员知道“买什么、向谁买、凭什么买、怎么验、如何留痕、风险出现后怎么追溯”。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1）什么是医疗器械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定义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097280"/>
            <a:ext cx="539496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097280"/>
            <a:ext cx="73152" cy="237744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207007"/>
            <a:ext cx="508406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600" b="1">
                <a:solidFill>
                  <a:srgbClr val="0F2D41"/>
                </a:solidFill>
                <a:latin typeface="Microsoft YaHei"/>
              </a:defRPr>
            </a:pPr>
            <a:r>
              <a:t>法规定义（通俗转述）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5084064" cy="18105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250" b="0">
                <a:solidFill>
                  <a:srgbClr val="212529"/>
                </a:solidFill>
                <a:latin typeface="Microsoft YaHei"/>
              </a:defRPr>
            </a:pPr>
            <a:r>
              <a:t>医疗器械是直接或间接用于人体的仪器、设备、器具、体外诊断试剂及校准物、材料和其他类似或者相关物品，包括所需计算机软件。</a:t>
            </a:r>
          </a:p>
          <a:p>
            <a:pPr algn="l">
              <a:lnSpc>
                <a:spcPct val="110000"/>
              </a:lnSpc>
              <a:defRPr sz="1250" b="0">
                <a:solidFill>
                  <a:srgbClr val="212529"/>
                </a:solidFill>
                <a:latin typeface="Microsoft YaHei"/>
              </a:defRPr>
            </a:pPr>
          </a:p>
          <a:p>
            <a:pPr algn="l">
              <a:lnSpc>
                <a:spcPct val="110000"/>
              </a:lnSpc>
              <a:defRPr sz="1250" b="0">
                <a:solidFill>
                  <a:srgbClr val="212529"/>
                </a:solidFill>
                <a:latin typeface="Microsoft YaHei"/>
              </a:defRPr>
            </a:pPr>
            <a:r>
              <a:t>主要通过物理等方式发挥作用，不以药理学、免疫学或者代谢方式为主；虽有这些方式参与，但只起辅助作用。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30352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73152" cy="23774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4807" y="1207007"/>
            <a:ext cx="499262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600" b="1">
                <a:solidFill>
                  <a:srgbClr val="0F2D41"/>
                </a:solidFill>
                <a:latin typeface="Microsoft YaHei"/>
              </a:defRPr>
            </a:pPr>
            <a:r>
              <a:t>核心用途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807" y="1572768"/>
            <a:ext cx="4992624" cy="18105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250" b="0">
                <a:solidFill>
                  <a:srgbClr val="212529"/>
                </a:solidFill>
                <a:latin typeface="Microsoft YaHei"/>
              </a:defRPr>
            </a:pPr>
            <a:r>
              <a:t>疾病诊断、预防、监护、治疗或缓解</a:t>
            </a:r>
          </a:p>
          <a:p>
            <a:pPr algn="l">
              <a:lnSpc>
                <a:spcPct val="110000"/>
              </a:lnSpc>
              <a:defRPr sz="1250" b="0">
                <a:solidFill>
                  <a:srgbClr val="212529"/>
                </a:solidFill>
                <a:latin typeface="Microsoft YaHei"/>
              </a:defRPr>
            </a:pPr>
            <a:r>
              <a:t>损伤的诊断、监护、治疗、缓解或功能补偿</a:t>
            </a:r>
          </a:p>
          <a:p>
            <a:pPr algn="l">
              <a:lnSpc>
                <a:spcPct val="110000"/>
              </a:lnSpc>
              <a:defRPr sz="1250" b="0">
                <a:solidFill>
                  <a:srgbClr val="212529"/>
                </a:solidFill>
                <a:latin typeface="Microsoft YaHei"/>
              </a:defRPr>
            </a:pPr>
            <a:r>
              <a:t>生理结构或生理过程的检验、替代、调节或支持</a:t>
            </a:r>
          </a:p>
          <a:p>
            <a:pPr algn="l">
              <a:lnSpc>
                <a:spcPct val="110000"/>
              </a:lnSpc>
              <a:defRPr sz="1250" b="0">
                <a:solidFill>
                  <a:srgbClr val="212529"/>
                </a:solidFill>
                <a:latin typeface="Microsoft YaHei"/>
              </a:defRPr>
            </a:pPr>
            <a:r>
              <a:t>生命支持或维持</a:t>
            </a:r>
          </a:p>
          <a:p>
            <a:pPr algn="l">
              <a:lnSpc>
                <a:spcPct val="110000"/>
              </a:lnSpc>
              <a:defRPr sz="1250" b="0">
                <a:solidFill>
                  <a:srgbClr val="212529"/>
                </a:solidFill>
                <a:latin typeface="Microsoft YaHei"/>
              </a:defRPr>
            </a:pPr>
            <a:r>
              <a:t>妊娠控制</a:t>
            </a:r>
          </a:p>
          <a:p>
            <a:pPr algn="l">
              <a:lnSpc>
                <a:spcPct val="110000"/>
              </a:lnSpc>
              <a:defRPr sz="1250" b="0">
                <a:solidFill>
                  <a:srgbClr val="212529"/>
                </a:solidFill>
                <a:latin typeface="Microsoft YaHei"/>
              </a:defRPr>
            </a:pPr>
            <a:r>
              <a:t>对来自人体样本进行检查，为医疗或诊断目的提供信息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977639"/>
            <a:ext cx="108813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800" b="1">
                <a:solidFill>
                  <a:srgbClr val="0F2D41"/>
                </a:solidFill>
                <a:latin typeface="Microsoft YaHei"/>
              </a:defRPr>
            </a:pPr>
            <a:r>
              <a:t>采购理解重点：医疗器械不是“普通商品”，其准入、质量、储运、验收、追溯和召回均受法规约束。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617720"/>
            <a:ext cx="2560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4617720"/>
            <a:ext cx="73152" cy="100584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4727448"/>
            <a:ext cx="224942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仪器设备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5093208"/>
            <a:ext cx="2249424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50" b="0">
                <a:solidFill>
                  <a:srgbClr val="212529"/>
                </a:solidFill>
                <a:latin typeface="Microsoft YaHei"/>
              </a:defRPr>
            </a:pPr>
            <a:r>
              <a:t>监护仪、超声、输注泵、影像设备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01568" y="4617720"/>
            <a:ext cx="2560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4617720"/>
            <a:ext cx="73152" cy="10058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4727448"/>
            <a:ext cx="224942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耗材材料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02736" y="5093208"/>
            <a:ext cx="2249424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50" b="0">
                <a:solidFill>
                  <a:srgbClr val="212529"/>
                </a:solidFill>
                <a:latin typeface="Microsoft YaHei"/>
              </a:defRPr>
            </a:pPr>
            <a:r>
              <a:t>导管、敷料、注射/输注耗材、植入物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08776" y="4617720"/>
            <a:ext cx="2560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08776" y="4617720"/>
            <a:ext cx="73152" cy="1005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9944" y="4727448"/>
            <a:ext cx="224942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体外诊断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5093208"/>
            <a:ext cx="2249424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50" b="0">
                <a:solidFill>
                  <a:srgbClr val="212529"/>
                </a:solidFill>
                <a:latin typeface="Microsoft YaHei"/>
              </a:defRPr>
            </a:pPr>
            <a:r>
              <a:t>检测试剂、校准品、质控品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984" y="4617720"/>
            <a:ext cx="25603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15984" y="4617720"/>
            <a:ext cx="73152" cy="10058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17152" y="4727448"/>
            <a:ext cx="224942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软件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5093208"/>
            <a:ext cx="2249424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50" b="0">
                <a:solidFill>
                  <a:srgbClr val="212529"/>
                </a:solidFill>
                <a:latin typeface="Microsoft YaHei"/>
              </a:defRPr>
            </a:pPr>
            <a:r>
              <a:t>医学影像处理、诊断辅助软件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30936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850" b="0">
                <a:solidFill>
                  <a:srgbClr val="5D6D7E"/>
                </a:solidFill>
                <a:latin typeface="Microsoft YaHei"/>
              </a:defRPr>
            </a:pPr>
            <a:r>
              <a:t>依据：《医疗器械监督管理条例》（国务院令第739号）第二条。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医疗器械与相邻品类的边界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定义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87552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600" b="1">
                <a:solidFill>
                  <a:srgbClr val="0F2D41"/>
                </a:solidFill>
                <a:latin typeface="Microsoft YaHei"/>
              </a:defRPr>
            </a:pPr>
            <a:r>
              <a:t>判断边界时，采购不能只看商品名，应看预期用途、作用机理、注册/备案信息与标签说明书。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4360" y="1508760"/>
          <a:ext cx="1106424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926080"/>
                <a:gridCol w="3383280"/>
              </a:tblGrid>
              <a:tr h="795527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对象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典型例子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关键判断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</a:rPr>
                        <a:t>采购关注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</a:tr>
              <a:tr h="795527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医疗器械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监护仪、植入物、IVD试剂、无菌敷料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用于人体诊疗/监护/支持等；按风险分类管理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注册/备案、供货资质、合格证明、批号效期、追溯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5527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药品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注射液、片剂、疫苗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以药理、免疫或代谢作用为主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按药品采购法规与药事管理要求执行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795527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普通设备/办公用品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电脑、打印机、普通冰箱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不以医疗诊断治疗为预期用途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仍需质量验收，但通常不需器械注册证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9553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消毒/防护/实验用品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消毒剂、普通防护用品、实验耗材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可能分属消毒产品、劳保用品或医疗器械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12529"/>
                          </a:solidFill>
                          <a:latin typeface="Microsoft YaHei"/>
                        </a:rPr>
                        <a:t>避免“看起来像医疗用品”就按器械采购或反之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5806440"/>
            <a:ext cx="107899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C0392B"/>
                </a:solidFill>
                <a:latin typeface="Microsoft YaHei"/>
              </a:defRPr>
            </a:pPr>
            <a:r>
              <a:t>采购风险点：同一类商品因预期用途不同，监管属性可能不同；如软件、敷料、试剂、冰箱、口罩等。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2）医疗器械的分类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05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1051560"/>
          <a:ext cx="1101852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2331720"/>
                <a:gridCol w="1965960"/>
                <a:gridCol w="2148840"/>
                <a:gridCol w="3337560"/>
              </a:tblGrid>
              <a:tr h="1005840"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Microsoft YaHei"/>
                        </a:rPr>
                        <a:t>类别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Microsoft YaHei"/>
                        </a:rPr>
                        <a:t>风险程度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Microsoft YaHei"/>
                        </a:rPr>
                        <a:t>产品管理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Microsoft YaHei"/>
                        </a:rPr>
                        <a:t>经营要求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Microsoft YaHei"/>
                        </a:rPr>
                        <a:t>采购举例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第一类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风险低，常规管理可保证安全有效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产品备案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经营通常无需许可/备案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普通检查器械、部分手术器械、基础耗材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第二类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中度风险，需要严格控制管理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产品注册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经营实行备案管理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输注泵、部分诊断设备、部分敷料/耗材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第三类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较高风险，需要特别措施严格控制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产品注册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经营实行许可管理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212529"/>
                          </a:solidFill>
                          <a:latin typeface="Microsoft YaHei"/>
                        </a:rPr>
                        <a:t>植入物、介入器械、生命支持设备、部分IVD高风险试剂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394960"/>
            <a:ext cx="516636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5394960"/>
            <a:ext cx="73152" cy="77724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5504688"/>
            <a:ext cx="485546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采购结论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5870448"/>
            <a:ext cx="4855464" cy="21031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分类越高，采购前证照核验、供应商准入、储运验收、追溯记录与售后风险管理要求越严格。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394960"/>
            <a:ext cx="507492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5394960"/>
            <a:ext cx="73152" cy="7772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9088" y="5504688"/>
            <a:ext cx="476402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不要凭经验分类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5870448"/>
            <a:ext cx="4764024" cy="21031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以国家药监部门分类目录、分类规则、注册/备案信息和企业质量部门意见为准。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30936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850" b="0">
                <a:solidFill>
                  <a:srgbClr val="5D6D7E"/>
                </a:solidFill>
                <a:latin typeface="Microsoft YaHei"/>
              </a:defRPr>
            </a:pPr>
            <a:r>
              <a:t>依据：《医疗器械监督管理条例》第六条；《医疗器械经营监督管理办法》第四条等。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分类判断如何影响采购动作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分类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14300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143000"/>
            <a:ext cx="731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252728"/>
            <a:ext cx="302666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1. 看预期用途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618488"/>
            <a:ext cx="302666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50" b="0">
                <a:solidFill>
                  <a:srgbClr val="212529"/>
                </a:solidFill>
                <a:latin typeface="Microsoft YaHei"/>
              </a:defRPr>
            </a:pPr>
            <a:r>
              <a:t>用于诊断、治疗、监护、缓解、补偿、支持、样本检测等用途吗？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41648" y="1828800"/>
            <a:ext cx="365760" cy="0"/>
          </a:xfrm>
          <a:prstGeom prst="line">
            <a:avLst/>
          </a:prstGeom>
          <a:ln w="2794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480560" y="114300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1143000"/>
            <a:ext cx="73152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1252728"/>
            <a:ext cx="302666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2. 看结构和使用方式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1618488"/>
            <a:ext cx="302666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50" b="0">
                <a:solidFill>
                  <a:srgbClr val="212529"/>
                </a:solidFill>
                <a:latin typeface="Microsoft YaHei"/>
              </a:defRPr>
            </a:pPr>
            <a:r>
              <a:t>是否接触人体？是否无菌？是否植入？是否生命支持？是否软件诊断？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36408" y="1828800"/>
            <a:ext cx="365760" cy="0"/>
          </a:xfrm>
          <a:prstGeom prst="line">
            <a:avLst/>
          </a:prstGeom>
          <a:ln w="2794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75320" y="1143000"/>
            <a:ext cx="333756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20" y="1143000"/>
            <a:ext cx="73152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6488" y="1252728"/>
            <a:ext cx="302666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3. 查目录与证照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1618488"/>
            <a:ext cx="302666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50" b="0">
                <a:solidFill>
                  <a:srgbClr val="212529"/>
                </a:solidFill>
                <a:latin typeface="Microsoft YaHei"/>
              </a:defRPr>
            </a:pPr>
            <a:r>
              <a:t>按分类目录/注册备案数据库核对类别、名称、型号、注册人/备案人。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063240"/>
            <a:ext cx="1069848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0000"/>
              </a:lnSpc>
              <a:defRPr sz="2000" b="1">
                <a:solidFill>
                  <a:srgbClr val="0F2D41"/>
                </a:solidFill>
                <a:latin typeface="Microsoft YaHei"/>
              </a:defRPr>
            </a:pPr>
            <a:r>
              <a:t>采购动作差异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731520" y="3611880"/>
          <a:ext cx="10744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743200"/>
                <a:gridCol w="2971800"/>
                <a:gridCol w="310896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影响项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第一类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第二类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Microsoft YaHei"/>
                        </a:rPr>
                        <a:t>第三类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12529"/>
                          </a:solidFill>
                          <a:latin typeface="Microsoft YaHei"/>
                        </a:rPr>
                        <a:t>产品文件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12529"/>
                          </a:solidFill>
                          <a:latin typeface="Microsoft YaHei"/>
                        </a:rPr>
                        <a:t>备案信息/合格证明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12529"/>
                          </a:solidFill>
                          <a:latin typeface="Microsoft YaHei"/>
                        </a:rPr>
                        <a:t>注册证、说明书标签、合格证明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12529"/>
                          </a:solidFill>
                          <a:latin typeface="Microsoft YaHei"/>
                        </a:rPr>
                        <a:t>注册证、说明书标签、合格证明；高风险产品更重视追溯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12529"/>
                          </a:solidFill>
                          <a:latin typeface="Microsoft YaHei"/>
                        </a:rPr>
                        <a:t>供方资质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12529"/>
                          </a:solidFill>
                          <a:latin typeface="Microsoft YaHei"/>
                        </a:rPr>
                        <a:t>合法生产/经营主体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12529"/>
                          </a:solidFill>
                          <a:latin typeface="Microsoft YaHei"/>
                        </a:rPr>
                        <a:t>经营备案或合规生产/经营主体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12529"/>
                          </a:solidFill>
                          <a:latin typeface="Microsoft YaHei"/>
                        </a:rPr>
                        <a:t>经营许可证、授权链、质量协议更关键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12529"/>
                          </a:solidFill>
                          <a:latin typeface="Microsoft YaHei"/>
                        </a:rPr>
                        <a:t>记录与追溯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12529"/>
                          </a:solidFill>
                          <a:latin typeface="Microsoft YaHei"/>
                        </a:rPr>
                        <a:t>基础进货查验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12529"/>
                          </a:solidFill>
                          <a:latin typeface="Microsoft YaHei"/>
                        </a:rPr>
                        <a:t>真实、准确、完整、可追溯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12529"/>
                          </a:solidFill>
                          <a:latin typeface="Microsoft YaHei"/>
                        </a:rPr>
                        <a:t>批号/序列号/UDI、植入类永久保存等重点管理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3）采购为什么要懂医疗器械体系和法规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采购价值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09728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097280"/>
            <a:ext cx="731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207007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合规准入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572768"/>
            <a:ext cx="31181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避免采购未注册/备案、超范围经营或资质失效产品，降低行政处罚和停用风险。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09728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097280"/>
            <a:ext cx="73152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207007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患者安全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572768"/>
            <a:ext cx="31181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医疗器械直接影响诊疗结果；采购质量不是“价格问题”，是安全有效问题。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09728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80" y="1097280"/>
            <a:ext cx="73152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1207007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供应连续性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1572768"/>
            <a:ext cx="31181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理解注册变更、停产、召回、证照到期，可提前做替代和库存策略。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97180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2971800"/>
            <a:ext cx="73152" cy="1417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08152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成本真实可控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3447288"/>
            <a:ext cx="31181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合规储运、验收、维护、耗材适配、售后服务会影响全生命周期成本。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297180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2971800"/>
            <a:ext cx="73152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8" y="308152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审计可追溯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3447288"/>
            <a:ext cx="31181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进货查验、验收、合同、冷链、批号效期等证据决定检查时能否闭环。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297180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83880" y="2971800"/>
            <a:ext cx="73152" cy="1417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5048" y="308152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跨部门协同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447288"/>
            <a:ext cx="31181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采购需与使用科室、质量、法规、仓储、财务、招标、售后形成统一语言。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486400"/>
            <a:ext cx="1088136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0000"/>
              </a:lnSpc>
              <a:defRPr sz="1700" b="1">
                <a:solidFill>
                  <a:srgbClr val="0F2D41"/>
                </a:solidFill>
                <a:latin typeface="Microsoft YaHei"/>
              </a:defRPr>
            </a:pPr>
            <a:r>
              <a:t>一句话：采购是法规链条进入企业的第一道门，采购质量决定后续验收、使用、售后和追溯能否成立。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医疗器械质量体系中的采购位置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" name="Oval 5"/>
          <p:cNvSpPr/>
          <p:nvPr/>
        </p:nvSpPr>
        <p:spPr>
          <a:xfrm>
            <a:off x="4709160" y="2148840"/>
            <a:ext cx="2743200" cy="1188720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100" b="1">
                <a:solidFill>
                  <a:srgbClr val="FFFFFF"/>
                </a:solidFill>
                <a:latin typeface="Microsoft YaHei"/>
              </a:defRPr>
            </a:pPr>
            <a:r>
              <a:t>采购质量控制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43000"/>
            <a:ext cx="2971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143000"/>
            <a:ext cx="73152" cy="9601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252728"/>
            <a:ext cx="26609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需求/选型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618488"/>
            <a:ext cx="2660904" cy="3931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19" b="0">
                <a:solidFill>
                  <a:srgbClr val="212529"/>
                </a:solidFill>
                <a:latin typeface="Microsoft YaHei"/>
              </a:defRPr>
            </a:pPr>
            <a:r>
              <a:t>确认适用场景、分类、技术参数和替代方案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841248"/>
            <a:ext cx="2971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60" y="841248"/>
            <a:ext cx="73152" cy="9601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1728" y="950976"/>
            <a:ext cx="26609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法规/注册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1316736"/>
            <a:ext cx="2660904" cy="3931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19" b="0">
                <a:solidFill>
                  <a:srgbClr val="212529"/>
                </a:solidFill>
                <a:latin typeface="Microsoft YaHei"/>
              </a:defRPr>
            </a:pPr>
            <a:r>
              <a:t>核对注册/备案、说明书、标签、变更状态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1143000"/>
            <a:ext cx="2971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2440" y="1143000"/>
            <a:ext cx="73152" cy="9601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252728"/>
            <a:ext cx="26609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供应商管理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1618488"/>
            <a:ext cx="2660904" cy="3931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19" b="0">
                <a:solidFill>
                  <a:srgbClr val="212529"/>
                </a:solidFill>
                <a:latin typeface="Microsoft YaHei"/>
              </a:defRPr>
            </a:pPr>
            <a:r>
              <a:t>资质准入、授权链、绩效评价与退出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886200"/>
            <a:ext cx="2971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73152" cy="9601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995928"/>
            <a:ext cx="26609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合同/招采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" y="4361688"/>
            <a:ext cx="2660904" cy="3931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19" b="0">
                <a:solidFill>
                  <a:srgbClr val="212529"/>
                </a:solidFill>
                <a:latin typeface="Microsoft YaHei"/>
              </a:defRPr>
            </a:pPr>
            <a:r>
              <a:t>质量条款、交付条件、违约与召回责任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80560" y="4617720"/>
            <a:ext cx="2971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80560" y="4617720"/>
            <a:ext cx="73152" cy="960120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81728" y="4727448"/>
            <a:ext cx="26609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仓储/物流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8" y="5093208"/>
            <a:ext cx="2660904" cy="3931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19" b="0">
                <a:solidFill>
                  <a:srgbClr val="212529"/>
                </a:solidFill>
                <a:latin typeface="Microsoft YaHei"/>
              </a:defRPr>
            </a:pPr>
            <a:r>
              <a:t>温湿度、冷链、效期、批号/序列号追踪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3886200"/>
            <a:ext cx="29718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92440" y="3886200"/>
            <a:ext cx="73152" cy="9601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3608" y="3995928"/>
            <a:ext cx="26609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售后/召回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361688"/>
            <a:ext cx="2660904" cy="3931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19" b="0">
                <a:solidFill>
                  <a:srgbClr val="212529"/>
                </a:solidFill>
                <a:latin typeface="Microsoft YaHei"/>
              </a:defRPr>
            </a:pPr>
            <a:r>
              <a:t>投诉、不良事件、维修校准、召回配合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11880" y="1627632"/>
            <a:ext cx="1097280" cy="795528"/>
          </a:xfrm>
          <a:prstGeom prst="line">
            <a:avLst/>
          </a:prstGeom>
          <a:ln w="19050">
            <a:solidFill>
              <a:srgbClr val="96A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943600" y="1783080"/>
            <a:ext cx="45720" cy="365760"/>
          </a:xfrm>
          <a:prstGeom prst="line">
            <a:avLst/>
          </a:prstGeom>
          <a:ln w="19050">
            <a:solidFill>
              <a:srgbClr val="96A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7452360" y="1627632"/>
            <a:ext cx="640080" cy="795528"/>
          </a:xfrm>
          <a:prstGeom prst="line">
            <a:avLst/>
          </a:prstGeom>
          <a:ln w="19050">
            <a:solidFill>
              <a:srgbClr val="96A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3611880" y="2971800"/>
            <a:ext cx="1097280" cy="1399032"/>
          </a:xfrm>
          <a:prstGeom prst="line">
            <a:avLst/>
          </a:prstGeom>
          <a:ln w="19050">
            <a:solidFill>
              <a:srgbClr val="96A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943600" y="3337560"/>
            <a:ext cx="45720" cy="1280160"/>
          </a:xfrm>
          <a:prstGeom prst="line">
            <a:avLst/>
          </a:prstGeom>
          <a:ln w="19050">
            <a:solidFill>
              <a:srgbClr val="96A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7452360" y="2971800"/>
            <a:ext cx="640080" cy="1399032"/>
          </a:xfrm>
          <a:prstGeom prst="line">
            <a:avLst/>
          </a:prstGeom>
          <a:ln w="19050">
            <a:solidFill>
              <a:srgbClr val="96A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14400" y="5989320"/>
            <a:ext cx="10424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0000"/>
              </a:lnSpc>
              <a:defRPr sz="1300" b="0">
                <a:solidFill>
                  <a:srgbClr val="5D6D7E"/>
                </a:solidFill>
                <a:latin typeface="Microsoft YaHei"/>
              </a:defRPr>
            </a:pPr>
            <a:r>
              <a:t>采购不是孤立下单动作，而是质量体系、法规体系、供应链体系的交汇点。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4）医疗器械全生命周期“风铃图”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全生命周期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960120"/>
            <a:ext cx="10835640" cy="640080"/>
          </a:xfrm>
          <a:prstGeom prst="roundRect">
            <a:avLst/>
          </a:prstGeom>
          <a:solidFill>
            <a:srgbClr val="0F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FFFFFF"/>
                </a:solidFill>
                <a:latin typeface="Microsoft YaHei"/>
              </a:defRPr>
            </a:pPr>
            <a:r>
              <a:t>法规体系 + 企业质量管理体系 + 风险管理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60120" y="1993392"/>
            <a:ext cx="10287000" cy="0"/>
          </a:xfrm>
          <a:prstGeom prst="line">
            <a:avLst/>
          </a:prstGeom>
          <a:ln w="25400">
            <a:solidFill>
              <a:srgbClr val="0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280160" y="1993392"/>
            <a:ext cx="0" cy="749808"/>
          </a:xfrm>
          <a:prstGeom prst="line">
            <a:avLst/>
          </a:prstGeom>
          <a:ln w="15240">
            <a:solidFill>
              <a:srgbClr val="78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060704" y="1755648"/>
            <a:ext cx="438912" cy="438912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2743200"/>
            <a:ext cx="1133856" cy="1600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20" b="1">
                <a:solidFill>
                  <a:srgbClr val="0F2D41"/>
                </a:solidFill>
                <a:latin typeface="Microsoft YaHei"/>
              </a:defRPr>
            </a:pPr>
            <a:r>
              <a:t>需求立项</a:t>
            </a:r>
          </a:p>
          <a:p>
            <a:pPr algn="ctr">
              <a:defRPr sz="880">
                <a:solidFill>
                  <a:srgbClr val="5D6D7E"/>
                </a:solidFill>
                <a:latin typeface="Microsoft YaHei"/>
              </a:defRPr>
            </a:pPr>
            <a:r>
              <a:t>分类判断</a:t>
            </a:r>
            <a:br/>
            <a:r>
              <a:t>预算与选型</a:t>
            </a:r>
          </a:p>
        </p:txBody>
      </p:sp>
      <p:sp>
        <p:nvSpPr>
          <p:cNvPr id="11" name="Diamond 10"/>
          <p:cNvSpPr/>
          <p:nvPr/>
        </p:nvSpPr>
        <p:spPr>
          <a:xfrm>
            <a:off x="1106424" y="4480560"/>
            <a:ext cx="347472" cy="347472"/>
          </a:xfrm>
          <a:prstGeom prst="diamond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2852928" y="1993392"/>
            <a:ext cx="0" cy="749808"/>
          </a:xfrm>
          <a:prstGeom prst="line">
            <a:avLst/>
          </a:prstGeom>
          <a:ln w="15240">
            <a:solidFill>
              <a:srgbClr val="78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2633472" y="1755648"/>
            <a:ext cx="438912" cy="438912"/>
          </a:xfrm>
          <a:prstGeom prst="ellipse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2743200"/>
            <a:ext cx="1133856" cy="1600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20" b="1">
                <a:solidFill>
                  <a:srgbClr val="0F2D41"/>
                </a:solidFill>
                <a:latin typeface="Microsoft YaHei"/>
              </a:defRPr>
            </a:pPr>
            <a:r>
              <a:t>供应商准入</a:t>
            </a:r>
          </a:p>
          <a:p>
            <a:pPr algn="ctr">
              <a:defRPr sz="880">
                <a:solidFill>
                  <a:srgbClr val="5D6D7E"/>
                </a:solidFill>
                <a:latin typeface="Microsoft YaHei"/>
              </a:defRPr>
            </a:pPr>
            <a:r>
              <a:t>证照/授权</a:t>
            </a:r>
            <a:br/>
            <a:r>
              <a:t>质量能力</a:t>
            </a:r>
          </a:p>
        </p:txBody>
      </p:sp>
      <p:sp>
        <p:nvSpPr>
          <p:cNvPr id="15" name="Diamond 14"/>
          <p:cNvSpPr/>
          <p:nvPr/>
        </p:nvSpPr>
        <p:spPr>
          <a:xfrm>
            <a:off x="2679192" y="4480560"/>
            <a:ext cx="347472" cy="347472"/>
          </a:xfrm>
          <a:prstGeom prst="diamond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4425696" y="1993392"/>
            <a:ext cx="0" cy="749808"/>
          </a:xfrm>
          <a:prstGeom prst="line">
            <a:avLst/>
          </a:prstGeom>
          <a:ln w="15240">
            <a:solidFill>
              <a:srgbClr val="78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4206240" y="1755648"/>
            <a:ext cx="438912" cy="438912"/>
          </a:xfrm>
          <a:prstGeom prst="ellipse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58768" y="2743200"/>
            <a:ext cx="1133856" cy="1600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20" b="1">
                <a:solidFill>
                  <a:srgbClr val="0F2D41"/>
                </a:solidFill>
                <a:latin typeface="Microsoft YaHei"/>
              </a:defRPr>
            </a:pPr>
            <a:r>
              <a:t>采购合同</a:t>
            </a:r>
          </a:p>
          <a:p>
            <a:pPr algn="ctr">
              <a:defRPr sz="880">
                <a:solidFill>
                  <a:srgbClr val="5D6D7E"/>
                </a:solidFill>
                <a:latin typeface="Microsoft YaHei"/>
              </a:defRPr>
            </a:pPr>
            <a:r>
              <a:t>质量条款</a:t>
            </a:r>
            <a:br/>
            <a:r>
              <a:t>注册信息</a:t>
            </a:r>
          </a:p>
        </p:txBody>
      </p:sp>
      <p:sp>
        <p:nvSpPr>
          <p:cNvPr id="19" name="Diamond 18"/>
          <p:cNvSpPr/>
          <p:nvPr/>
        </p:nvSpPr>
        <p:spPr>
          <a:xfrm>
            <a:off x="4251959" y="4480560"/>
            <a:ext cx="347472" cy="347472"/>
          </a:xfrm>
          <a:prstGeom prst="diamond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998464" y="1993392"/>
            <a:ext cx="0" cy="749808"/>
          </a:xfrm>
          <a:prstGeom prst="line">
            <a:avLst/>
          </a:prstGeom>
          <a:ln w="15240">
            <a:solidFill>
              <a:srgbClr val="78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779008" y="1755648"/>
            <a:ext cx="438912" cy="438912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31536" y="2743200"/>
            <a:ext cx="1133856" cy="1600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20" b="1">
                <a:solidFill>
                  <a:srgbClr val="0F2D41"/>
                </a:solidFill>
                <a:latin typeface="Microsoft YaHei"/>
              </a:defRPr>
            </a:pPr>
            <a:r>
              <a:t>收货验收</a:t>
            </a:r>
          </a:p>
          <a:p>
            <a:pPr algn="ctr">
              <a:defRPr sz="880">
                <a:solidFill>
                  <a:srgbClr val="5D6D7E"/>
                </a:solidFill>
                <a:latin typeface="Microsoft YaHei"/>
              </a:defRPr>
            </a:pPr>
            <a:r>
              <a:t>三证/标签</a:t>
            </a:r>
            <a:br/>
            <a:r>
              <a:t>批号效期</a:t>
            </a:r>
          </a:p>
        </p:txBody>
      </p:sp>
      <p:sp>
        <p:nvSpPr>
          <p:cNvPr id="23" name="Diamond 22"/>
          <p:cNvSpPr/>
          <p:nvPr/>
        </p:nvSpPr>
        <p:spPr>
          <a:xfrm>
            <a:off x="5824728" y="4480560"/>
            <a:ext cx="347472" cy="347472"/>
          </a:xfrm>
          <a:prstGeom prst="diamond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>
            <a:off x="7571231" y="1993392"/>
            <a:ext cx="0" cy="749808"/>
          </a:xfrm>
          <a:prstGeom prst="line">
            <a:avLst/>
          </a:prstGeom>
          <a:ln w="15240">
            <a:solidFill>
              <a:srgbClr val="78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351776" y="1755648"/>
            <a:ext cx="438912" cy="438912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004304" y="2743200"/>
            <a:ext cx="1133856" cy="1600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20" b="1">
                <a:solidFill>
                  <a:srgbClr val="0F2D41"/>
                </a:solidFill>
                <a:latin typeface="Microsoft YaHei"/>
              </a:defRPr>
            </a:pPr>
            <a:r>
              <a:t>贮存运输</a:t>
            </a:r>
          </a:p>
          <a:p>
            <a:pPr algn="ctr">
              <a:defRPr sz="880">
                <a:solidFill>
                  <a:srgbClr val="5D6D7E"/>
                </a:solidFill>
                <a:latin typeface="Microsoft YaHei"/>
              </a:defRPr>
            </a:pPr>
            <a:r>
              <a:t>温湿度</a:t>
            </a:r>
            <a:br/>
            <a:r>
              <a:t>冷链记录</a:t>
            </a:r>
          </a:p>
        </p:txBody>
      </p:sp>
      <p:sp>
        <p:nvSpPr>
          <p:cNvPr id="27" name="Diamond 26"/>
          <p:cNvSpPr/>
          <p:nvPr/>
        </p:nvSpPr>
        <p:spPr>
          <a:xfrm>
            <a:off x="7397496" y="4480560"/>
            <a:ext cx="347472" cy="347472"/>
          </a:xfrm>
          <a:prstGeom prst="diamond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9143999" y="1993392"/>
            <a:ext cx="0" cy="749808"/>
          </a:xfrm>
          <a:prstGeom prst="line">
            <a:avLst/>
          </a:prstGeom>
          <a:ln w="15240">
            <a:solidFill>
              <a:srgbClr val="78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924544" y="1755648"/>
            <a:ext cx="438912" cy="43891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77072" y="2743200"/>
            <a:ext cx="1133856" cy="1600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20" b="1">
                <a:solidFill>
                  <a:srgbClr val="0F2D41"/>
                </a:solidFill>
                <a:latin typeface="Microsoft YaHei"/>
              </a:defRPr>
            </a:pPr>
            <a:r>
              <a:t>使用售后</a:t>
            </a:r>
          </a:p>
          <a:p>
            <a:pPr algn="ctr">
              <a:defRPr sz="880">
                <a:solidFill>
                  <a:srgbClr val="5D6D7E"/>
                </a:solidFill>
                <a:latin typeface="Microsoft YaHei"/>
              </a:defRPr>
            </a:pPr>
            <a:r>
              <a:t>培训维护</a:t>
            </a:r>
            <a:br/>
            <a:r>
              <a:t>投诉处理</a:t>
            </a:r>
          </a:p>
        </p:txBody>
      </p:sp>
      <p:sp>
        <p:nvSpPr>
          <p:cNvPr id="31" name="Diamond 30"/>
          <p:cNvSpPr/>
          <p:nvPr/>
        </p:nvSpPr>
        <p:spPr>
          <a:xfrm>
            <a:off x="8970263" y="4480560"/>
            <a:ext cx="347472" cy="347472"/>
          </a:xfrm>
          <a:prstGeom prst="diamond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0716767" y="1993392"/>
            <a:ext cx="0" cy="749808"/>
          </a:xfrm>
          <a:prstGeom prst="line">
            <a:avLst/>
          </a:prstGeom>
          <a:ln w="15240">
            <a:solidFill>
              <a:srgbClr val="7896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0497312" y="1755648"/>
            <a:ext cx="438912" cy="438912"/>
          </a:xfrm>
          <a:prstGeom prst="ellipse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149840" y="2743200"/>
            <a:ext cx="1133856" cy="1600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006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20" b="1">
                <a:solidFill>
                  <a:srgbClr val="0F2D41"/>
                </a:solidFill>
                <a:latin typeface="Microsoft YaHei"/>
              </a:defRPr>
            </a:pPr>
            <a:r>
              <a:t>召回处置</a:t>
            </a:r>
          </a:p>
          <a:p>
            <a:pPr algn="ctr">
              <a:defRPr sz="880">
                <a:solidFill>
                  <a:srgbClr val="5D6D7E"/>
                </a:solidFill>
                <a:latin typeface="Microsoft YaHei"/>
              </a:defRPr>
            </a:pPr>
            <a:r>
              <a:t>追溯召回</a:t>
            </a:r>
            <a:br/>
            <a:r>
              <a:t>退役报废</a:t>
            </a:r>
          </a:p>
        </p:txBody>
      </p:sp>
      <p:sp>
        <p:nvSpPr>
          <p:cNvPr id="35" name="Diamond 34"/>
          <p:cNvSpPr/>
          <p:nvPr/>
        </p:nvSpPr>
        <p:spPr>
          <a:xfrm>
            <a:off x="10543032" y="4480560"/>
            <a:ext cx="347472" cy="347472"/>
          </a:xfrm>
          <a:prstGeom prst="diamond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166360"/>
            <a:ext cx="107442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读图方式：上方是统一约束（法规和质量体系），下方每个“风铃片”代表生命周期阶段；采购要在每个阶段挂接可执行、可留痕的控制点。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30936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850" b="0">
                <a:solidFill>
                  <a:srgbClr val="5D6D7E"/>
                </a:solidFill>
                <a:latin typeface="Microsoft YaHei"/>
              </a:defRPr>
            </a:pPr>
            <a:r>
              <a:t>提示：“风铃图”为培训表达方式，用于把全生命周期控制点可视化。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全生命周期阶段与采购控制点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全生命周期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960120"/>
          <a:ext cx="1120140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154680"/>
                <a:gridCol w="3291840"/>
                <a:gridCol w="3429000"/>
              </a:tblGrid>
              <a:tr h="634365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</a:rPr>
                        <a:t>阶段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</a:rPr>
                        <a:t>采购/供应链动作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</a:rPr>
                        <a:t>关键证据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Microsoft YaHei"/>
                        </a:rPr>
                        <a:t>常见风险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需求与选型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确认监管属性、分类、适配场景；组织技术/质量/使用部门评审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需求说明、分类依据、技术参数、替代评估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把普通商品当器械或把器械当普通商品采购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供应商准入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审核营业执照、生产/经营资质、授权链、质量能力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证照清单、资质有效期、质量协议、供应商评价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证照过期、超范围经营、授权链断裂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下单与合同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在订单/合同写清注册/备案信息、型号规格、储运要求、售后责任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采购订单、合同、质量条款、廉洁/合规承诺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型号不一致、质量责任不清、低价牺牲合规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收货验收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核对外观包装、标签说明书、合格证明、批号/序列号/效期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进货查验记录、验收结论、不合格处置记录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无合格证明、近效期、冷链断链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贮存运输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按说明书和标签要求储存运输；温湿度/冷链监控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温湿度记录、冷链交接、库位状态标识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温控失效、待验/合格/不合格混放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使用与售后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配合安装培训、维修校准、投诉反馈、备件耗材适配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培训记录、维修校准记录、投诉处理单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售后响应慢、非原厂配件影响安全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召回/退役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按批号/序列号/UDI追踪；配合召回、退换货和报废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召回通知、追溯清单、退货/报废记录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12529"/>
                          </a:solidFill>
                          <a:latin typeface="Microsoft YaHei"/>
                        </a:rPr>
                        <a:t>无法定位流向，记录不完整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5）与采购有关的法规地图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法规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960120"/>
          <a:ext cx="1124712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920240"/>
                <a:gridCol w="3246120"/>
                <a:gridCol w="3337560"/>
              </a:tblGrid>
              <a:tr h="568960">
                <a:tc>
                  <a:txBody>
                    <a:bodyPr wrap="square"/>
                    <a:lstStyle/>
                    <a:p>
                      <a:pPr algn="ctr"/>
                      <a:r>
                        <a:rPr sz="790" b="1">
                          <a:solidFill>
                            <a:srgbClr val="FFFFFF"/>
                          </a:solidFill>
                          <a:latin typeface="Microsoft YaHei"/>
                        </a:rPr>
                        <a:t>法规/规范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90" b="1">
                          <a:solidFill>
                            <a:srgbClr val="FFFFFF"/>
                          </a:solidFill>
                          <a:latin typeface="Microsoft YaHei"/>
                        </a:rPr>
                        <a:t>层级/部门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90" b="1">
                          <a:solidFill>
                            <a:srgbClr val="FFFFFF"/>
                          </a:solidFill>
                          <a:latin typeface="Microsoft YaHei"/>
                        </a:rPr>
                        <a:t>与采购的关系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90" b="1">
                          <a:solidFill>
                            <a:srgbClr val="FFFFFF"/>
                          </a:solidFill>
                          <a:latin typeface="Microsoft YaHei"/>
                        </a:rPr>
                        <a:t>采购要点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《医疗器械监督管理条例》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国务院令第739号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医疗器械监管基本法，规定分类管理、注册备案、经营使用、追溯等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从合法资质主体购进；查验证照与合格证明；建立进货查验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《医疗器械注册与备案管理办法》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市场监管总局令第47号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明确产品注册/备案要求和变更管理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核对注册证/备案编号、有效期、注册人、型号规格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《体外诊断试剂注册与备案管理办法》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市场监管总局令第48号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IVD产品注册/备案管理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IVD试剂、校准品、质控品采购需关注储运和效期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《医疗器械生产监督管理办法》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市场监管总局令第53号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生产资质、委托生产、质量管理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审核生产许可证/备案、受托生产信息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《医疗器械经营监督管理办法》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市场监管总局令第54号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经营资质、采购验收、追溯、销售记录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二类备案、三类许可；采购、验收、记录保存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《医疗器械经营质量管理规范》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国家药监局，2024年7月1日起施行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经营全过程质量管理基本要求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采购、收货、验收、贮存、运输、售后全过程留痕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《医疗器械使用质量监督管理办法》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原CFDA令第18号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医疗机构/使用单位采购、验收、贮存要求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统一采购；索取查验证明文件；不得购进未注册/备案产品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UDI、不良事件、召回等配套规则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国家药监局/相关部门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追溯、风险处置与上市后监管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90" b="0">
                          <a:solidFill>
                            <a:srgbClr val="212529"/>
                          </a:solidFill>
                          <a:latin typeface="Microsoft YaHei"/>
                        </a:rPr>
                        <a:t>关注UDI、批号序列号、投诉/不良事件/召回通知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30936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850" b="0">
                <a:solidFill>
                  <a:srgbClr val="5D6D7E"/>
                </a:solidFill>
                <a:latin typeface="Microsoft YaHei"/>
              </a:defRPr>
            </a:pPr>
            <a:r>
              <a:t>建议企业将适用法规转化为采购SOP、表单、系统字段和供应商准入规则。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采购相关法规细则：必须抓住的条款语言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法规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960120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960120"/>
            <a:ext cx="73152" cy="932688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069848"/>
            <a:ext cx="49011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合法来源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435608"/>
            <a:ext cx="49011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70" b="0">
                <a:solidFill>
                  <a:srgbClr val="212529"/>
                </a:solidFill>
                <a:latin typeface="Microsoft YaHei"/>
              </a:defRPr>
            </a:pPr>
            <a:r>
              <a:t>从具备合法资质的注册人、备案人、生产经营企业购进。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94560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2194560"/>
            <a:ext cx="73152" cy="9326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304288"/>
            <a:ext cx="49011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进货查验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2670048"/>
            <a:ext cx="49011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70" b="0">
                <a:solidFill>
                  <a:srgbClr val="212529"/>
                </a:solidFill>
                <a:latin typeface="Microsoft YaHei"/>
              </a:defRPr>
            </a:pPr>
            <a:r>
              <a:t>购进时查验供货者资质、产品注册证/备案信息、合格证明文件。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429000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800" y="3429000"/>
            <a:ext cx="73152" cy="93268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538728"/>
            <a:ext cx="49011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真实可追溯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" y="3904487"/>
            <a:ext cx="49011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70" b="0">
                <a:solidFill>
                  <a:srgbClr val="212529"/>
                </a:solidFill>
                <a:latin typeface="Microsoft YaHei"/>
              </a:defRPr>
            </a:pPr>
            <a:r>
              <a:t>进货查验记录真实、准确、完整、可追溯。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663440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" y="4663440"/>
            <a:ext cx="73152" cy="93268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4773168"/>
            <a:ext cx="49011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记录保存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" y="5138928"/>
            <a:ext cx="49011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70" b="0">
                <a:solidFill>
                  <a:srgbClr val="212529"/>
                </a:solidFill>
                <a:latin typeface="Microsoft YaHei"/>
              </a:defRPr>
            </a:pPr>
            <a:r>
              <a:t>一般保存至有效期满后2年；无有效期不少于5年；植入类永久保存。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960120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960120"/>
            <a:ext cx="73152" cy="932688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7" y="1069848"/>
            <a:ext cx="49011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统一采购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807" y="1435608"/>
            <a:ext cx="49011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70" b="0">
                <a:solidFill>
                  <a:srgbClr val="212529"/>
                </a:solidFill>
                <a:latin typeface="Microsoft YaHei"/>
              </a:defRPr>
            </a:pPr>
            <a:r>
              <a:t>使用单位应指定部门/人员统一采购，避免科室自行采购。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2194560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2194560"/>
            <a:ext cx="73152" cy="932688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64807" y="2304288"/>
            <a:ext cx="49011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特殊储运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7" y="2670048"/>
            <a:ext cx="49011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70" b="0">
                <a:solidFill>
                  <a:srgbClr val="212529"/>
                </a:solidFill>
                <a:latin typeface="Microsoft YaHei"/>
              </a:defRPr>
            </a:pPr>
            <a:r>
              <a:t>有特殊储运要求的，核实运输和储存条件符合说明书/标签。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3429000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63640" y="3429000"/>
            <a:ext cx="73152" cy="93268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64807" y="3538728"/>
            <a:ext cx="49011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禁止采购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7" y="3904487"/>
            <a:ext cx="49011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70" b="0">
                <a:solidFill>
                  <a:srgbClr val="212529"/>
                </a:solidFill>
                <a:latin typeface="Microsoft YaHei"/>
              </a:defRPr>
            </a:pPr>
            <a:r>
              <a:t>不得购进未依法注册/备案、无合格证明、过期、失效、淘汰产品。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4663440"/>
            <a:ext cx="521208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63640" y="4663440"/>
            <a:ext cx="73152" cy="932688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4807" y="4773168"/>
            <a:ext cx="49011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经营分级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4807" y="5138928"/>
            <a:ext cx="4901184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070" b="0">
                <a:solidFill>
                  <a:srgbClr val="212529"/>
                </a:solidFill>
                <a:latin typeface="Microsoft YaHei"/>
              </a:defRPr>
            </a:pPr>
            <a:r>
              <a:t>经营第二类通常备案，第三类许可；确认供方经营范围匹配。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30936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850" b="0">
                <a:solidFill>
                  <a:srgbClr val="5D6D7E"/>
                </a:solidFill>
                <a:latin typeface="Microsoft YaHei"/>
              </a:defRPr>
            </a:pPr>
            <a:r>
              <a:t>依据：《医疗器械监督管理条例》第45条；《医疗器械经营监督管理办法》第29、31、32条；《医疗器械使用质量监督管理办法》第7、8、12条等。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供应商准入审核：采购第一道防线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采购实务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932688"/>
            <a:ext cx="1088136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600" b="1">
                <a:solidFill>
                  <a:srgbClr val="0F2D41"/>
                </a:solidFill>
                <a:latin typeface="Microsoft YaHei"/>
              </a:defRPr>
            </a:pPr>
            <a:r>
              <a:t>建议用“主体合法 + 范围匹配 + 授权清晰 + 质量能力 + 动态维护”五步准入。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17320"/>
          <a:ext cx="10927080" cy="443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108960"/>
                <a:gridCol w="3063240"/>
                <a:gridCol w="2926080"/>
              </a:tblGrid>
              <a:tr h="739140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icrosoft YaHei"/>
                        </a:rPr>
                        <a:t>审核维度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icrosoft YaHei"/>
                        </a:rPr>
                        <a:t>应收集/核验文件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icrosoft YaHei"/>
                        </a:rPr>
                        <a:t>重点看什么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Microsoft YaHei"/>
                        </a:rPr>
                        <a:t>留痕建议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</a:tr>
              <a:tr h="739140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主体资质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营业执照、生产许可证/备案、经营许可证/备案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企业名称、统一社会信用代码、经营范围、有效期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系统维护证照有效期预警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经营范围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二类备案凭证、三类经营许可证及经营范围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是否覆盖拟购产品类别、是否超范围经营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采购订单与范围匹配校验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739140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授权链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厂家/注册人授权、代理协议、经销授权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授权产品、区域、期限、层级是否完整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保存授权链全套文件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9140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质量能力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质量协议、GSP/GMP相关证明、仓储运输能力、冷链验证资料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是否具备符合产品要求的贮存运输条件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供应商年度评价与现场/远程审核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739140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信用与绩效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投诉、召回、交付、价格、服务、违规记录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高风险供应商是否纳入重点管理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212529"/>
                          </a:solidFill>
                          <a:latin typeface="Microsoft YaHei"/>
                        </a:rPr>
                        <a:t>分级管理、黑名单/暂停采购机制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6080760"/>
            <a:ext cx="10607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0000"/>
              </a:lnSpc>
              <a:defRPr sz="1250" b="1">
                <a:solidFill>
                  <a:srgbClr val="C0392B"/>
                </a:solidFill>
                <a:latin typeface="Microsoft YaHei"/>
              </a:defRPr>
            </a:pPr>
            <a:r>
              <a:t>采购提醒：证照“有”不等于“可买”，还要看范围、有效期、产品匹配和授权链。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产品准入审核：把“买对产品”落到字段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采购实务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960120"/>
            <a:ext cx="36118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960120"/>
            <a:ext cx="73152" cy="50749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069848"/>
            <a:ext cx="3300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600" b="1">
                <a:solidFill>
                  <a:srgbClr val="0F2D41"/>
                </a:solidFill>
                <a:latin typeface="Microsoft YaHei"/>
              </a:defRPr>
            </a:pPr>
            <a:r>
              <a:t>产品合规文件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435608"/>
            <a:ext cx="3300984" cy="4507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注册证或备案信息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注册人/备案人名称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产品技术要求/适用范围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说明书和标签样稿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合格证明文件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进口产品相关证明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UDI、批号/序列号规则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960120"/>
            <a:ext cx="361188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960120"/>
            <a:ext cx="73152" cy="50749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27448" y="1069848"/>
            <a:ext cx="33009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600" b="1">
                <a:solidFill>
                  <a:srgbClr val="0F2D41"/>
                </a:solidFill>
                <a:latin typeface="Microsoft YaHei"/>
              </a:defRPr>
            </a:pPr>
            <a:r>
              <a:t>订单关键字段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8" y="1435608"/>
            <a:ext cx="3300984" cy="4507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产品名称（与注册/备案一致）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型号、规格、包装规格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注册证编号/备案编号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注册人/备案人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生产企业/受托生产企业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数量、单价、金额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储运条件、效期要求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960120"/>
            <a:ext cx="301752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58200" y="960120"/>
            <a:ext cx="73152" cy="5074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59368" y="1069848"/>
            <a:ext cx="270662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600" b="1">
                <a:solidFill>
                  <a:srgbClr val="0F2D41"/>
                </a:solidFill>
                <a:latin typeface="Microsoft YaHei"/>
              </a:defRPr>
            </a:pPr>
            <a:r>
              <a:t>高风险重点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8" y="1435608"/>
            <a:ext cx="2706624" cy="45079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无菌/植入/介入产品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生命支持类设备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冷链或温控产品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IVD试剂/质控品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软件版本与适配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近效期或停产替代</a:t>
            </a:r>
          </a:p>
          <a:p>
            <a:pPr algn="l">
              <a:lnSpc>
                <a:spcPct val="110000"/>
              </a:lnSpc>
              <a:defRPr sz="1220" b="0">
                <a:solidFill>
                  <a:srgbClr val="212529"/>
                </a:solidFill>
                <a:latin typeface="Microsoft YaHei"/>
              </a:defRPr>
            </a:pPr>
            <a:r>
              <a:t>召回/不良事件历史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30936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850" b="0">
                <a:solidFill>
                  <a:srgbClr val="5D6D7E"/>
                </a:solidFill>
                <a:latin typeface="Microsoft YaHei"/>
              </a:defRPr>
            </a:pPr>
            <a:r>
              <a:t>建议将注册证号、注册人、型号规格、批号/序列号、有效期、UDI等设置为采购和验收系统必填项。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合同/订单质量条款：别只写价格和交期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采购实务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960120"/>
          <a:ext cx="11018519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5943600"/>
                <a:gridCol w="3200400"/>
              </a:tblGrid>
              <a:tr h="634365">
                <a:tc>
                  <a:txBody>
                    <a:bodyPr wrap="square"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Microsoft YaHei"/>
                        </a:rPr>
                        <a:t>条款类别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Microsoft YaHei"/>
                        </a:rPr>
                        <a:t>建议写入内容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90" b="1">
                          <a:solidFill>
                            <a:srgbClr val="FFFFFF"/>
                          </a:solidFill>
                          <a:latin typeface="Microsoft YaHei"/>
                        </a:rPr>
                        <a:t>作用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产品一致性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名称、型号、规格、注册/备案编号、注册人/备案人、生产企业应与证照一致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防止到货与准入文件不一致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证照更新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供方证照、授权、注册证变更/延续/注销应及时通知并提供新版文件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避免采购失效资质或变更后产品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储运条件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温湿度、冷链、避光、防潮、防震、运输时限、数据记录交付要求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保证在途质量和验收依据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效期与批号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最低剩余效期、批号/序列号/UDI提供方式、可追溯要求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控制近效期和追溯风险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验收与退换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验收不合格处理、退换货时限、费用承担、补货机制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保障质量问题及时闭环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售后与召回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安装培训、维修校准、投诉处理、不良事件配合、召回通知和响应时限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衔接上市后风险管理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634365"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廉洁与合规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反商业贿赂、数据真实、不得提供虚假文件、违规解约责任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90" b="0">
                          <a:solidFill>
                            <a:srgbClr val="212529"/>
                          </a:solidFill>
                          <a:latin typeface="Microsoft YaHei"/>
                        </a:rPr>
                        <a:t>降低招采和商业合规风险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收货、验收与贮存：采购闭环不能缺席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采购实务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107899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0000"/>
              </a:lnSpc>
              <a:defRPr sz="1700" b="1">
                <a:solidFill>
                  <a:srgbClr val="0F2D41"/>
                </a:solidFill>
                <a:latin typeface="Microsoft YaHei"/>
              </a:defRPr>
            </a:pPr>
            <a:r>
              <a:t>到货不是结束，而是合规证据链最容易断裂的地方。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00200"/>
            <a:ext cx="19659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600200"/>
            <a:ext cx="73152" cy="132588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709928"/>
            <a:ext cx="1655063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收货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2075688"/>
            <a:ext cx="1655063" cy="7589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980" b="0">
                <a:solidFill>
                  <a:srgbClr val="212529"/>
                </a:solidFill>
                <a:latin typeface="Microsoft YaHei"/>
              </a:defRPr>
            </a:pPr>
            <a:r>
              <a:t>核对送货单、包装状态、运输条件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78608" y="2267712"/>
            <a:ext cx="219456" cy="0"/>
          </a:xfrm>
          <a:prstGeom prst="line">
            <a:avLst/>
          </a:prstGeom>
          <a:ln w="1778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62072" y="1600200"/>
            <a:ext cx="19659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62072" y="1600200"/>
            <a:ext cx="73152" cy="132588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709928"/>
            <a:ext cx="1655063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待验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075688"/>
            <a:ext cx="1655063" cy="7589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980" b="0">
                <a:solidFill>
                  <a:srgbClr val="212529"/>
                </a:solidFill>
                <a:latin typeface="Microsoft YaHei"/>
              </a:defRPr>
            </a:pPr>
            <a:r>
              <a:t>按质量特性分区/状态标识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846320" y="2267712"/>
            <a:ext cx="219456" cy="0"/>
          </a:xfrm>
          <a:prstGeom prst="line">
            <a:avLst/>
          </a:prstGeom>
          <a:ln w="1778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129784" y="1600200"/>
            <a:ext cx="19659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9784" y="1600200"/>
            <a:ext cx="73152" cy="13258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952" y="1709928"/>
            <a:ext cx="1655063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验收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952" y="2075688"/>
            <a:ext cx="1655063" cy="7589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980" b="0">
                <a:solidFill>
                  <a:srgbClr val="212529"/>
                </a:solidFill>
                <a:latin typeface="Microsoft YaHei"/>
              </a:defRPr>
            </a:pPr>
            <a:r>
              <a:t>核对证照、标签、说明书、合格证明、批号效期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114031" y="2267712"/>
            <a:ext cx="219457" cy="0"/>
          </a:xfrm>
          <a:prstGeom prst="line">
            <a:avLst/>
          </a:prstGeom>
          <a:ln w="1778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397496" y="1600200"/>
            <a:ext cx="19659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97496" y="1600200"/>
            <a:ext cx="73152" cy="13258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98664" y="1709928"/>
            <a:ext cx="1655063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入库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98664" y="2075688"/>
            <a:ext cx="1655063" cy="7589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980" b="0">
                <a:solidFill>
                  <a:srgbClr val="212529"/>
                </a:solidFill>
                <a:latin typeface="Microsoft YaHei"/>
              </a:defRPr>
            </a:pPr>
            <a:r>
              <a:t>合格入库；不合格隔离并处置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381744" y="2267712"/>
            <a:ext cx="219456" cy="0"/>
          </a:xfrm>
          <a:prstGeom prst="line">
            <a:avLst/>
          </a:prstGeom>
          <a:ln w="1778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9665208" y="1600200"/>
            <a:ext cx="196596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5208" y="1600200"/>
            <a:ext cx="73152" cy="13258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66376" y="1709928"/>
            <a:ext cx="1655063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记录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66376" y="2075688"/>
            <a:ext cx="1655063" cy="7589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980" b="0">
                <a:solidFill>
                  <a:srgbClr val="212529"/>
                </a:solidFill>
                <a:latin typeface="Microsoft YaHei"/>
              </a:defRPr>
            </a:pPr>
            <a:r>
              <a:t>进货查验记录、温控记录、异常处置记录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3429000"/>
            <a:ext cx="33832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" y="3429000"/>
            <a:ext cx="73152" cy="16002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6968" y="3538728"/>
            <a:ext cx="30723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“三一致”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6968" y="3904487"/>
            <a:ext cx="3072384" cy="10332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订单/合同、注册备案信息、实物标签说明书一致。型号、规格、生产企业、注册人、批号效期尤其要核对。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34840" y="3429000"/>
            <a:ext cx="33832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434840" y="3429000"/>
            <a:ext cx="73152" cy="160020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36007" y="3538728"/>
            <a:ext cx="30723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温控与冷链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36007" y="3904487"/>
            <a:ext cx="3072384" cy="10332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冷链产品需核对在途温度记录、交接时间、包装完整性；断链应隔离评估，不应直接入库。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83879" y="3429000"/>
            <a:ext cx="338328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83879" y="3429000"/>
            <a:ext cx="73152" cy="1600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85048" y="3538728"/>
            <a:ext cx="30723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不合格处置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5048" y="3904487"/>
            <a:ext cx="3072384" cy="103327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发现破损、污染、无证、近效期、温控异常等，应隔离、记录、通知质量部门并按流程退换。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309360"/>
            <a:ext cx="987552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850" b="0">
                <a:solidFill>
                  <a:srgbClr val="5D6D7E"/>
                </a:solidFill>
                <a:latin typeface="Microsoft YaHei"/>
              </a:defRPr>
            </a:pPr>
            <a:r>
              <a:t>与采购相关的验收信息应反向用于供应商绩效评价和后续采购决策。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特殊采购场景的合规风险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采购实务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960120"/>
            <a:ext cx="516636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960120"/>
            <a:ext cx="73152" cy="1170432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069848"/>
            <a:ext cx="485546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体外诊断试剂（IVD）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435608"/>
            <a:ext cx="4855464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关注注册/备案、储运温度、效期、批号、配套仪器适配、校准品/质控品。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960120"/>
            <a:ext cx="516636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960120"/>
            <a:ext cx="73152" cy="11704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069848"/>
            <a:ext cx="485546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植入/介入类器械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435608"/>
            <a:ext cx="4855464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关注三类许可、授权链、序列号/UDI、跟台/寄售、植入记录和永久保存要求。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560320"/>
            <a:ext cx="516636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2560320"/>
            <a:ext cx="73152" cy="1170432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670048"/>
            <a:ext cx="485546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设备+耗材闭环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3035808"/>
            <a:ext cx="4855464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设备采购需同时评估专机专用耗材、维保、校准、软件升级和停产替代。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560320"/>
            <a:ext cx="516636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560320"/>
            <a:ext cx="73152" cy="117043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2670048"/>
            <a:ext cx="485546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进口器械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035808"/>
            <a:ext cx="4855464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关注进口注册证、中文标签说明书、报关/检验相关资料、境内代理人信息。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4160520"/>
            <a:ext cx="516636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4360" y="4160520"/>
            <a:ext cx="73152" cy="117043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4270248"/>
            <a:ext cx="485546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网络/平台采购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" y="4636008"/>
            <a:ext cx="4855464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平台便利不替代资质审核；仍需验证供方主体、经营范围和产品证照。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160520"/>
            <a:ext cx="516636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4160520"/>
            <a:ext cx="73152" cy="11704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4270248"/>
            <a:ext cx="485546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400" b="1">
                <a:solidFill>
                  <a:srgbClr val="0F2D41"/>
                </a:solidFill>
                <a:latin typeface="Microsoft YaHei"/>
              </a:defRPr>
            </a:pPr>
            <a:r>
              <a:t>紧急采购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19088" y="4636008"/>
            <a:ext cx="4855464" cy="60350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紧急不等于豁免；至少保留审批、质量评估、证照核验和验收记录。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采购策略要按产品风险、供应商风险和使用风险分级，而不是“一套清单管所有产品”。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6）医疗器械行业采购日常工作注意事项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日常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05156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051560"/>
            <a:ext cx="731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16128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买前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1527048"/>
            <a:ext cx="31181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确认监管属性和分类；确认需求部门选型依据；完成供应商与产品准入。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05156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051560"/>
            <a:ext cx="73152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16128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下单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1527048"/>
            <a:ext cx="31181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订单字段与注册/备案信息一致；明确效期、批号/序列号、储运和售后要求。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1051560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80" y="1051560"/>
            <a:ext cx="73152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116128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到货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1527048"/>
            <a:ext cx="31181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验收前不得直接使用；异常先隔离；冷链/温控产品核对在途记录。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926079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2926079"/>
            <a:ext cx="73152" cy="1417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303580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付款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3401568"/>
            <a:ext cx="31181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付款资料应与验收结果、发票、合同、订单一致；不合格未闭环不建议放行。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89120" y="2926079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20" y="2926079"/>
            <a:ext cx="73152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90288" y="303580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变更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3401568"/>
            <a:ext cx="31181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供应商、注册证、型号、包装、生产地址、说明书标签变化应重新评估。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83880" y="2926079"/>
            <a:ext cx="34290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83880" y="2926079"/>
            <a:ext cx="73152" cy="1417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5048" y="3035808"/>
            <a:ext cx="31181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复盘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5048" y="3401568"/>
            <a:ext cx="31181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20" b="0">
                <a:solidFill>
                  <a:srgbClr val="212529"/>
                </a:solidFill>
                <a:latin typeface="Microsoft YaHei"/>
              </a:defRPr>
            </a:pPr>
            <a:r>
              <a:t>用交付、投诉、退换货、召回、价格等数据做供应商绩效评价。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513832"/>
            <a:ext cx="106070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0000"/>
              </a:lnSpc>
              <a:defRPr sz="1900" b="1">
                <a:solidFill>
                  <a:srgbClr val="0F2D41"/>
                </a:solidFill>
                <a:latin typeface="Microsoft YaHei"/>
              </a:defRPr>
            </a:pPr>
            <a:r>
              <a:t>日常原则：证照先行、范围匹配、实物一致、过程留痕、异常隔离、追溯可查。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常见红线与稽核证据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日常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960120"/>
          <a:ext cx="1101852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657600"/>
                <a:gridCol w="4069080"/>
              </a:tblGrid>
              <a:tr h="645795"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FFFFFF"/>
                          </a:solidFill>
                          <a:latin typeface="Microsoft YaHei"/>
                        </a:rPr>
                        <a:t>红线/高风险行为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FFFFFF"/>
                          </a:solidFill>
                          <a:latin typeface="Microsoft YaHei"/>
                        </a:rPr>
                        <a:t>可能后果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1">
                          <a:solidFill>
                            <a:srgbClr val="FFFFFF"/>
                          </a:solidFill>
                          <a:latin typeface="Microsoft YaHei"/>
                        </a:rPr>
                        <a:t>应准备的稽核证据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</a:tr>
              <a:tr h="645795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从无资质或超范围供方采购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违法违规、产品停用、行政处罚、质量事故风险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供方资质审核表、证照、授权链、经营范围匹配记录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5795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采购未注册/备案或证照失效产品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不得使用/销售，召回或退货，影响诊疗连续性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注册/备案核验截图、有效期预警、产品准入审批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645795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实物型号规格与证照/订单不一致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验收不合格、追溯失败、使用风险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订单、送货单、标签说明书、验收记录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5795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冷链/温控记录缺失或异常仍入库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质量不可确认，可能导致检测/治疗失效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运输温度记录、交接记录、异常评估和隔离处置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645795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近效期、过期、淘汰产品流入使用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临床风险、投诉和监管处罚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效期规则、库存预警、退换货记录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5795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植入/高风险产品追溯信息不完整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召回无法定位患者或使用科室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UDI、序列号、批号、流向和使用记录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645795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采购记录不真实、不完整、不可追溯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监管检查无法证明合规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212529"/>
                          </a:solidFill>
                          <a:latin typeface="Microsoft YaHei"/>
                        </a:rPr>
                        <a:t>进货查验记录、验收结论、系统日志、附件归档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一页式医疗器械采购合规流程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2514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051560"/>
            <a:ext cx="73152" cy="14173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1161288"/>
            <a:ext cx="22037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50" b="1">
                <a:solidFill>
                  <a:srgbClr val="0F2D41"/>
                </a:solidFill>
                <a:latin typeface="Microsoft YaHei"/>
              </a:defRPr>
            </a:pPr>
            <a:r>
              <a:t>01 需求提出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1527048"/>
            <a:ext cx="22037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使用场景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预算/技术参数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44952" y="1764792"/>
            <a:ext cx="246887" cy="0"/>
          </a:xfrm>
          <a:prstGeom prst="line">
            <a:avLst/>
          </a:prstGeom>
          <a:ln w="1778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10712" y="1051560"/>
            <a:ext cx="2514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2" y="1051560"/>
            <a:ext cx="73152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161288"/>
            <a:ext cx="22037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50" b="1">
                <a:solidFill>
                  <a:srgbClr val="0F2D41"/>
                </a:solidFill>
                <a:latin typeface="Microsoft YaHei"/>
              </a:defRPr>
            </a:pPr>
            <a:r>
              <a:t>02 分类确认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1527048"/>
            <a:ext cx="22037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器械属性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I/II/III类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52744" y="1764792"/>
            <a:ext cx="246888" cy="0"/>
          </a:xfrm>
          <a:prstGeom prst="line">
            <a:avLst/>
          </a:prstGeom>
          <a:ln w="1778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18504" y="1051560"/>
            <a:ext cx="2514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18504" y="1051560"/>
            <a:ext cx="73152" cy="14173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1161288"/>
            <a:ext cx="22037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50" b="1">
                <a:solidFill>
                  <a:srgbClr val="0F2D41"/>
                </a:solidFill>
                <a:latin typeface="Microsoft YaHei"/>
              </a:defRPr>
            </a:pPr>
            <a:r>
              <a:t>03 供应商准入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1527048"/>
            <a:ext cx="22037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资质/授权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质量能力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860536" y="1764792"/>
            <a:ext cx="246888" cy="0"/>
          </a:xfrm>
          <a:prstGeom prst="line">
            <a:avLst/>
          </a:prstGeom>
          <a:ln w="1778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226296" y="1051560"/>
            <a:ext cx="2514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26296" y="1051560"/>
            <a:ext cx="73152" cy="1417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27464" y="1161288"/>
            <a:ext cx="22037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50" b="1">
                <a:solidFill>
                  <a:srgbClr val="0F2D41"/>
                </a:solidFill>
                <a:latin typeface="Microsoft YaHei"/>
              </a:defRPr>
            </a:pPr>
            <a:r>
              <a:t>04 产品准入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1527048"/>
            <a:ext cx="22037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注册备案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型号规格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291840"/>
            <a:ext cx="2514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291840"/>
            <a:ext cx="73152" cy="1417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4088" y="3401568"/>
            <a:ext cx="22037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50" b="1">
                <a:solidFill>
                  <a:srgbClr val="0F2D41"/>
                </a:solidFill>
                <a:latin typeface="Microsoft YaHei"/>
              </a:defRPr>
            </a:pPr>
            <a:r>
              <a:t>05 合同下单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" y="3767328"/>
            <a:ext cx="22037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质量条款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储运售后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44952" y="4005072"/>
            <a:ext cx="246887" cy="0"/>
          </a:xfrm>
          <a:prstGeom prst="line">
            <a:avLst/>
          </a:prstGeom>
          <a:ln w="1778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3410712" y="3291840"/>
            <a:ext cx="2514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410712" y="3291840"/>
            <a:ext cx="73152" cy="1417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1880" y="3401568"/>
            <a:ext cx="22037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50" b="1">
                <a:solidFill>
                  <a:srgbClr val="0F2D41"/>
                </a:solidFill>
                <a:latin typeface="Microsoft YaHei"/>
              </a:defRPr>
            </a:pPr>
            <a:r>
              <a:t>06 收货验收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3767328"/>
            <a:ext cx="22037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合格证明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批号效期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952744" y="4005072"/>
            <a:ext cx="246888" cy="0"/>
          </a:xfrm>
          <a:prstGeom prst="line">
            <a:avLst/>
          </a:prstGeom>
          <a:ln w="1778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318504" y="3291840"/>
            <a:ext cx="2514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18504" y="3291840"/>
            <a:ext cx="73152" cy="1417320"/>
          </a:xfrm>
          <a:prstGeom prst="rect">
            <a:avLst/>
          </a:prstGeom>
          <a:solidFill>
            <a:srgbClr val="0060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19672" y="3401568"/>
            <a:ext cx="22037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50" b="1">
                <a:solidFill>
                  <a:srgbClr val="0F2D41"/>
                </a:solidFill>
                <a:latin typeface="Microsoft YaHei"/>
              </a:defRPr>
            </a:pPr>
            <a:r>
              <a:t>07 入库使用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19672" y="3767328"/>
            <a:ext cx="22037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温控库存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追溯记录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860536" y="4005072"/>
            <a:ext cx="246888" cy="0"/>
          </a:xfrm>
          <a:prstGeom prst="line">
            <a:avLst/>
          </a:prstGeom>
          <a:ln w="1778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226296" y="3291840"/>
            <a:ext cx="2514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26296" y="3291840"/>
            <a:ext cx="73152" cy="14173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27464" y="3401568"/>
            <a:ext cx="220370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350" b="1">
                <a:solidFill>
                  <a:srgbClr val="0F2D41"/>
                </a:solidFill>
                <a:latin typeface="Microsoft YaHei"/>
              </a:defRPr>
            </a:pPr>
            <a:r>
              <a:t>08 售后召回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3767328"/>
            <a:ext cx="2203704" cy="8503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投诉维修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召回处置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235440" y="2514600"/>
            <a:ext cx="0" cy="704088"/>
          </a:xfrm>
          <a:prstGeom prst="line">
            <a:avLst/>
          </a:prstGeom>
          <a:ln w="17780">
            <a:solidFill>
              <a:srgbClr val="5D6D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77240" y="5989320"/>
            <a:ext cx="106070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0000"/>
              </a:lnSpc>
              <a:defRPr sz="1300" b="1">
                <a:solidFill>
                  <a:srgbClr val="0F2D41"/>
                </a:solidFill>
                <a:latin typeface="Microsoft YaHei"/>
              </a:defRPr>
            </a:pPr>
            <a:r>
              <a:t>流程落地关键：把每一步变成系统字段、审批节点、附件要求和例外处理规则。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采购人员自查清单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21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" y="960120"/>
          <a:ext cx="11018520" cy="5166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6812280"/>
                <a:gridCol w="914400"/>
                <a:gridCol w="2651760"/>
              </a:tblGrid>
              <a:tr h="574040"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FFFFFF"/>
                          </a:solidFill>
                          <a:latin typeface="Microsoft YaHei"/>
                        </a:rPr>
                        <a:t>序号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FFFFFF"/>
                          </a:solidFill>
                          <a:latin typeface="Microsoft YaHei"/>
                        </a:rPr>
                        <a:t>自查问题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FFFFFF"/>
                          </a:solidFill>
                          <a:latin typeface="Microsoft YaHei"/>
                        </a:rPr>
                        <a:t>是/否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40" b="1">
                          <a:solidFill>
                            <a:srgbClr val="FFFFFF"/>
                          </a:solidFill>
                          <a:latin typeface="Microsoft YaHei"/>
                        </a:rPr>
                        <a:t>证据位置</a:t>
                      </a:r>
                    </a:p>
                  </a:txBody>
                  <a:tcPr anchor="ctr">
                    <a:solidFill>
                      <a:srgbClr val="0F2D41"/>
                    </a:solidFill>
                  </a:tcPr>
                </a:tc>
              </a:tr>
              <a:tr h="574040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是否确认该产品是否属于医疗器械及其分类？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分类依据/注册备案截图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040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2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供方营业执照、生产/经营许可证或备案是否有效且范围匹配？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供应商档案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574040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产品注册证/备案信息、注册人/备案人、型号规格是否与订单一致？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产品准入档案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040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4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采购合同/订单是否写明质量、储运、效期、售后、召回责任？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合同/订单附件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574040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到货是否完成外观、标签、说明书、合格证明、批号效期验收？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进货查验记录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040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冷链或特殊储运产品是否有温控记录并已评估？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运输/仓储记录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  <a:tr h="574040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高风险、植入类、UDI产品是否能按批号/序列号追溯？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追溯台账/系统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4040"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8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异常、不合格、投诉、召回是否已闭环并反馈供应商评价？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/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40" b="0">
                          <a:solidFill>
                            <a:srgbClr val="212529"/>
                          </a:solidFill>
                          <a:latin typeface="Microsoft YaHei"/>
                        </a:rPr>
                        <a:t>CAPA/供应商评价</a:t>
                      </a:r>
                    </a:p>
                  </a:txBody>
                  <a:tcPr anchor="ctr">
                    <a:solidFill>
                      <a:srgbClr val="F5F9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6217920"/>
            <a:ext cx="106070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0000"/>
              </a:lnSpc>
              <a:defRPr sz="1100" b="0">
                <a:solidFill>
                  <a:srgbClr val="5D6D7E"/>
                </a:solidFill>
                <a:latin typeface="Microsoft YaHei"/>
              </a:defRPr>
            </a:pPr>
            <a:r>
              <a:t>建议打印或嵌入采购系统，作为新供应商、新产品和高风险采购的必查清单。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875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0F2D41"/>
                </a:solidFill>
                <a:latin typeface="Microsoft YaHei"/>
              </a:defRPr>
            </a:pPr>
            <a:r>
              <a:t>参考法规与使用提示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24160" y="329184"/>
            <a:ext cx="1234440" cy="347472"/>
          </a:xfrm>
          <a:prstGeom prst="roundRect">
            <a:avLst/>
          </a:prstGeom>
          <a:solidFill>
            <a:srgbClr val="E6F6F4"/>
          </a:solidFill>
          <a:ln w="12700">
            <a:solidFill>
              <a:srgbClr val="B2DF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06064"/>
                </a:solidFill>
                <a:latin typeface="Microsoft YaHei"/>
              </a:defRPr>
            </a:pPr>
            <a:r>
              <a:t>附录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4420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D6D7E"/>
                </a:solidFill>
                <a:latin typeface="Microsoft YaHei"/>
              </a:defRPr>
            </a:pPr>
            <a: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914400"/>
            <a:ext cx="530352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914400"/>
            <a:ext cx="73152" cy="448056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024128"/>
            <a:ext cx="499262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主要法规文件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389888"/>
            <a:ext cx="4992624" cy="39136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《医疗器械监督管理条例》（国务院令第739号）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《医疗器械注册与备案管理办法》（市场监管总局令第47号）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《体外诊断试剂注册与备案管理办法》（市场监管总局令第48号）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《医疗器械生产监督管理办法》（市场监管总局令第53号）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《医疗器械经营监督管理办法》（市场监管总局令第54号）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《医疗器械经营质量管理规范》（国家药监局，2024年7月1日起施行）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《医疗器械使用质量监督管理办法》</a:t>
            </a:r>
          </a:p>
          <a:p>
            <a:pPr algn="l">
              <a:lnSpc>
                <a:spcPct val="110000"/>
              </a:lnSpc>
              <a:defRPr sz="1100" b="0">
                <a:solidFill>
                  <a:srgbClr val="212529"/>
                </a:solidFill>
                <a:latin typeface="Microsoft YaHei"/>
              </a:defRPr>
            </a:pPr>
            <a:r>
              <a:t>医疗器械唯一标识、不良事件监测、召回等配套规定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914400"/>
            <a:ext cx="49834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6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914400"/>
            <a:ext cx="73152" cy="448056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024128"/>
            <a:ext cx="4672584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500" b="1">
                <a:solidFill>
                  <a:srgbClr val="0F2D41"/>
                </a:solidFill>
                <a:latin typeface="Microsoft YaHei"/>
              </a:defRPr>
            </a:pPr>
            <a:r>
              <a:t>使用提示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1389888"/>
            <a:ext cx="4672584" cy="39136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本PPT用于采购合规培训和流程梳理。</a:t>
            </a:r>
          </a:p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不同企业因经营模式、产品风险、地区监管要求不同，需结合内部质量体系文件落地。</a:t>
            </a:r>
          </a:p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具体采购决策应以现行有效法规、药监部门公开数据库、企业质量/法规部门审核意见为准。</a:t>
            </a:r>
          </a:p>
          <a:p>
            <a:pPr algn="l">
              <a:lnSpc>
                <a:spcPct val="110000"/>
              </a:lnSpc>
              <a:defRPr sz="1200" b="0">
                <a:solidFill>
                  <a:srgbClr val="212529"/>
                </a:solidFill>
                <a:latin typeface="Microsoft YaHei"/>
              </a:defRPr>
            </a:pPr>
            <a:r>
              <a:t>建议定期更新法规清单和供应商/产品证照库。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lnSpc>
                <a:spcPct val="110000"/>
              </a:lnSpc>
              <a:defRPr sz="1800" b="1">
                <a:solidFill>
                  <a:srgbClr val="0F2D41"/>
                </a:solidFill>
                <a:latin typeface="Microsoft YaHei"/>
              </a:defRPr>
            </a:pPr>
            <a:r>
              <a:t>结束语：懂法规的采购，不只是“买得到”，更要保证“买得合法、验得清楚、用得安全、追得回来”。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医疗器械采购合规与法规体系培训</dc:title>
  <dc:subject>医疗器械定义、分类、全生命周期、采购法规与日常注意事项</dc:subject>
  <dc:creator>Cursor Cloud Agent</dc:creator>
  <cp:keywords>医疗器械, 采购, 合规, 法规, 全生命周期, 风铃图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