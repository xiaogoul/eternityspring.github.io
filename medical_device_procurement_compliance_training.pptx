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640080"/>
            <a:ext cx="3383280" cy="3383280"/>
          </a:xfrm>
          <a:prstGeom prst="ellipse">
            <a:avLst/>
          </a:prstGeom>
          <a:solidFill>
            <a:srgbClr val="1C5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4069080"/>
            <a:ext cx="2057400" cy="2057400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8686800" cy="10972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医疗行业零部件采购</a:t>
            </a:r>
          </a:p>
          <a:p>
            <a:pPr algn="l">
              <a:spcAft>
                <a:spcPts val="3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合规与质量控制培训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8046720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D3EEEB"/>
                </a:solidFill>
                <a:latin typeface="Microsoft YaHei"/>
              </a:defRPr>
            </a:pPr>
            <a:r>
              <a:t>面向医疗器械制造/研发企业的采购、供应链与质量协同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3246120"/>
            <a:ext cx="2148840" cy="38404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零部件/原材料/外协件视角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6053328"/>
            <a:ext cx="859536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DCE8ED"/>
                </a:solidFill>
                <a:latin typeface="Microsoft YaHei"/>
              </a:defRPr>
            </a:pPr>
            <a:r>
              <a:t>主题：不是采购成品医疗器械，而是采购会进入或影响医疗器械成品的物料与服务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本 PPT 的正确边界：采购对象是什么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05840"/>
            <a:ext cx="73152" cy="132588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15568"/>
            <a:ext cx="31821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采购对象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3182112" cy="7955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原材料、零部件、电子元器件、包装材料、标签说明书、软件模块、外协加工/检测/灭菌/物流服务。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05840"/>
            <a:ext cx="73152" cy="132588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15568"/>
            <a:ext cx="31821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最终用途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81328"/>
            <a:ext cx="3182112" cy="7955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这些物料或服务会进入、接触、保护、控制或验证最终医疗器械，影响其安全性、有效性和合规性。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0584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005840"/>
            <a:ext cx="73152" cy="1325880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115568"/>
            <a:ext cx="31821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采购责任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481328"/>
            <a:ext cx="3182112" cy="7955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采购不仅负责价格和交付，还要把法规、质量、工程和供应风险转化为供应商和订单控制。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107899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122D40"/>
                </a:solidFill>
                <a:latin typeface="Microsoft YaHei"/>
              </a:defRPr>
            </a:pPr>
            <a:r>
              <a:t>仍需先理解“什么是医疗器械”和“成品分类”，因为成品风险等级决定零部件采购控制强度。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22960" y="3520440"/>
          <a:ext cx="105613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394960"/>
              </a:tblGrid>
              <a:tr h="640080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不是本 PPT 重点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本 PPT 重点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64008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1050" b="0">
                          <a:solidFill>
                            <a:srgbClr val="20252A"/>
                          </a:solidFill>
                          <a:latin typeface="Microsoft YaHei"/>
                        </a:rPr>
                        <a:t>医院/经销商采购监护仪、导管、试剂等成品医疗器械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1050" b="0">
                          <a:solidFill>
                            <a:srgbClr val="20252A"/>
                          </a:solidFill>
                          <a:latin typeface="Microsoft YaHei"/>
                        </a:rPr>
                        <a:t>医疗器械制造商采购电机、传感器、塑料粒子、管路、PCB、包装、灭菌、机加工等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1050" b="0">
                          <a:solidFill>
                            <a:srgbClr val="20252A"/>
                          </a:solidFill>
                          <a:latin typeface="Microsoft YaHei"/>
                        </a:rPr>
                        <a:t>关注经营资质、成品注册证、进货查验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1050" b="0">
                          <a:solidFill>
                            <a:srgbClr val="20252A"/>
                          </a:solidFill>
                          <a:latin typeface="Microsoft YaHei"/>
                        </a:rPr>
                        <a:t>关注供应商控制、规格图纸、质量协议、来料验证、变更控制、追溯与外协过程控制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1）什么是医疗器械：为什么零部件也要被管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05840"/>
            <a:ext cx="73152" cy="228600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15568"/>
            <a:ext cx="51023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医疗器械成品的法规定义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5102352" cy="17556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0252A"/>
                </a:solidFill>
                <a:latin typeface="Microsoft YaHei"/>
              </a:defRPr>
            </a:pPr>
            <a:r>
              <a:t>直接或间接用于人体的仪器、设备、器具、体外诊断试剂及校准物、材料和其他类似或者相关物品，包括所需计算机软件。通常主要通过物理等方式发挥作用。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0584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73152" cy="228600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15568"/>
            <a:ext cx="50109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零部件的监管含义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481328"/>
            <a:ext cx="5010912" cy="17556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0252A"/>
                </a:solidFill>
                <a:latin typeface="Microsoft YaHei"/>
              </a:defRPr>
            </a:pPr>
            <a:r>
              <a:t>零部件本身未必单独作为医疗器械注册，但一旦成为医疗器械设计和生产的一部分，就通过成品的注册、生产质量体系和风险管理被控制。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10789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BE3E34"/>
                </a:solidFill>
                <a:latin typeface="Microsoft YaHei"/>
              </a:defRPr>
            </a:pPr>
            <a:r>
              <a:t>采购关键理解：不是“零件不是医疗器械所以不用管”，而是“零件风险会传递到最终医疗器械”。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57200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572000"/>
            <a:ext cx="73152" cy="100584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22677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进入产品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47488"/>
            <a:ext cx="2267712" cy="4754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20252A"/>
                </a:solidFill>
                <a:latin typeface="Microsoft YaHei"/>
              </a:defRPr>
            </a:pPr>
            <a:r>
              <a:t>材料、结构件、电子件、软件模块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457200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4572000"/>
            <a:ext cx="73152" cy="100584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4681728"/>
            <a:ext cx="22677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接触患者/样本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5047488"/>
            <a:ext cx="2267712" cy="4754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20252A"/>
                </a:solidFill>
                <a:latin typeface="Microsoft YaHei"/>
              </a:defRPr>
            </a:pPr>
            <a:r>
              <a:t>管路、敷料、采样耗材、试剂接触材料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457200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4572000"/>
            <a:ext cx="73152" cy="1005840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4681728"/>
            <a:ext cx="22677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保护产品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5047488"/>
            <a:ext cx="2267712" cy="4754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20252A"/>
                </a:solidFill>
                <a:latin typeface="Microsoft YaHei"/>
              </a:defRPr>
            </a:pPr>
            <a:r>
              <a:t>无菌包装、运输包装、标签说明书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457200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15984" y="4572000"/>
            <a:ext cx="73152" cy="1005840"/>
          </a:xfrm>
          <a:prstGeom prst="rect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98863" y="4681728"/>
            <a:ext cx="22677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影响过程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3" y="5047488"/>
            <a:ext cx="2267712" cy="4754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20252A"/>
                </a:solidFill>
                <a:latin typeface="Microsoft YaHei"/>
              </a:defRPr>
            </a:pPr>
            <a:r>
              <a:t>灭菌、清洗、涂层、检测、校准、物流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09360"/>
            <a:ext cx="1042416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840" b="0">
                <a:solidFill>
                  <a:srgbClr val="5B6A77"/>
                </a:solidFill>
                <a:latin typeface="Microsoft YaHei"/>
              </a:defRPr>
            </a:pPr>
            <a:r>
              <a:t>依据：《医疗器械监督管理条例》第二条；制造端零部件通过产品技术要求、风险管理和生产质量体系进行控制。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2）医疗器械分类：决定采购控制强度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05840"/>
          <a:ext cx="11018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4114800"/>
                <a:gridCol w="3611880"/>
              </a:tblGrid>
              <a:tr h="914400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成品类别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风险程度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对零部件采购的典型影响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采购控制建议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9144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第一类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低风险，常规管理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多为常规材料和结构件，但仍需规格一致、来料合格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基础供应商评价、来料检验、批次追溯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第二类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中度风险，需严格控制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关键零部件可能影响性能、寿命、软件/电气安全、生物相容性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供应商分级、质量协议、变更通知、抽检/型式验证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9144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第三类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高风险，需特别控制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植入、介入、生命支持、无菌、IVD高风险产品的材料和过程可能直接影响患者安全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40" b="0">
                          <a:solidFill>
                            <a:srgbClr val="20252A"/>
                          </a:solidFill>
                          <a:latin typeface="Microsoft YaHei"/>
                        </a:rPr>
                        <a:t>关键供应商现场审核、强化验证、批批追溯、变更前批准、备选供应风险管理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074920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074920"/>
            <a:ext cx="73152" cy="86868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84648"/>
            <a:ext cx="47823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核心逻辑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50408"/>
            <a:ext cx="4782312" cy="3383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60" b="0">
                <a:solidFill>
                  <a:srgbClr val="20252A"/>
                </a:solidFill>
                <a:latin typeface="Microsoft YaHei"/>
              </a:defRPr>
            </a:pPr>
            <a:r>
              <a:t>成品风险越高，关键物料和关键服务的采购控制越深：供应商准入更严、验证更多、变更更敏感。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5074920"/>
            <a:ext cx="4983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5074920"/>
            <a:ext cx="73152" cy="868680"/>
          </a:xfrm>
          <a:prstGeom prst="rect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5184648"/>
            <a:ext cx="469087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采购不能只看价格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550408"/>
            <a:ext cx="4690872" cy="3383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60" b="0">
                <a:solidFill>
                  <a:srgbClr val="20252A"/>
                </a:solidFill>
                <a:latin typeface="Microsoft YaHei"/>
              </a:defRPr>
            </a:pPr>
            <a:r>
              <a:t>低价替代、二供切换、规格微调、生产工艺变化，都可能触发设计验证、注册变更或质量风险评估。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042416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840" b="0">
                <a:solidFill>
                  <a:srgbClr val="5B6A77"/>
                </a:solidFill>
                <a:latin typeface="Microsoft YaHei"/>
              </a:defRPr>
            </a:pPr>
            <a:r>
              <a:t>依据：《医疗器械监督管理条例》第六条；ISO 13485 7.4 采购过程应与采购产品风险相适应。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零部件/物料分类：采购要先分级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914400"/>
          <a:ext cx="11018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3337560"/>
                <a:gridCol w="2834640"/>
              </a:tblGrid>
              <a:tr h="1060704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物料/服务级别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典型对象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风险特征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采购控制深度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106070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关键物料/关键服务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植入材料、无菌屏障包装、传感器、泵阀、软件模块、灭菌/特殊过程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直接影响安全、性能、无菌、测量准确性或法规符合性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现场审核或深度审核；质量协议；变更前通知/批准；来料验证；批次追溯；年度再评价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重要物料/服务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结构件、电子元件、标签说明书、普通包装、外协加工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间接影响产品功能、装配、标识、可靠性或可追溯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书面评价；明确规格图纸；抽检；供应商绩效监控；变更通知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106070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一般物料/服务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辅料、非关键工装耗材、办公/通用用品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不直接影响成品质量或可通过后续过程完全控制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简化准入；合格供方清单；合同和交付管理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一次性/新供应物料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新材料、新工艺、新供应商、替代料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未知风险高，历史数据不足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首件/小试/验证批；跨部门评审；临时放行条件；风险关闭后转常规管理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217920"/>
            <a:ext cx="1060704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050" b="0">
                <a:solidFill>
                  <a:srgbClr val="5B6A77"/>
                </a:solidFill>
                <a:latin typeface="Microsoft YaHei"/>
              </a:defRPr>
            </a:pPr>
            <a:r>
              <a:t>建议：企业内部建立“物料风险分级矩阵”，把质量要求固化到 ERP/SRM/采购订单字段。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3）采购为什么要懂医疗器械体系和法规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采购价值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141732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612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防止买错规格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80" b="0">
                <a:solidFill>
                  <a:srgbClr val="20252A"/>
                </a:solidFill>
                <a:latin typeface="Microsoft YaHei"/>
              </a:defRPr>
            </a:pPr>
            <a:r>
              <a:t>医疗器械采购信息必须明确规格型号、图样、验收准则、标准版本和修订状态。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73152" cy="141732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612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防止供应商失控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5270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80" b="0">
                <a:solidFill>
                  <a:srgbClr val="20252A"/>
                </a:solidFill>
                <a:latin typeface="Microsoft YaHei"/>
              </a:defRPr>
            </a:pPr>
            <a:r>
              <a:t>供应商能力、体系、设备、工艺、人员和外包链条都会影响最终产品质量。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0515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051560"/>
            <a:ext cx="73152" cy="1417320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612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防止擅自变更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270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80" b="0">
                <a:solidFill>
                  <a:srgbClr val="20252A"/>
                </a:solidFill>
                <a:latin typeface="Microsoft YaHei"/>
              </a:defRPr>
            </a:pPr>
            <a:r>
              <a:t>材料、工艺、产地、模具、检测方法、软件版本改变，可能影响设计验证和注册状态。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92607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926079"/>
            <a:ext cx="73152" cy="1417320"/>
          </a:xfrm>
          <a:prstGeom prst="rect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3580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防止来料风险流入生产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80" b="0">
                <a:solidFill>
                  <a:srgbClr val="20252A"/>
                </a:solidFill>
                <a:latin typeface="Microsoft YaHei"/>
              </a:defRPr>
            </a:pPr>
            <a:r>
              <a:t>采购需与 IQC、质量、工程约定来料验证和异常处置，不合格不得放行。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92607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926079"/>
            <a:ext cx="73152" cy="1417320"/>
          </a:xfrm>
          <a:prstGeom prst="rect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03580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保障追溯和召回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40156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80" b="0">
                <a:solidFill>
                  <a:srgbClr val="20252A"/>
                </a:solidFill>
                <a:latin typeface="Microsoft YaHei"/>
              </a:defRPr>
            </a:pPr>
            <a:r>
              <a:t>批号、炉号、序列号、COA、检验报告和供应商批次是上市后追溯基础。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92607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2926079"/>
            <a:ext cx="73152" cy="1417320"/>
          </a:xfrm>
          <a:prstGeom prst="rect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03580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支持成本真实优化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40156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80" b="0">
                <a:solidFill>
                  <a:srgbClr val="20252A"/>
                </a:solidFill>
                <a:latin typeface="Microsoft YaHei"/>
              </a:defRPr>
            </a:pPr>
            <a:r>
              <a:t>医疗行业降本应建立在等效验证、变更评估和法规可接受基础上。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22976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122D40"/>
                </a:solidFill>
                <a:latin typeface="Microsoft YaHei"/>
              </a:defRPr>
            </a:pPr>
            <a:r>
              <a:t>一句话：采购是把外部供应链纳入医疗器械质量管理体系的入口。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医疗器械制造体系中的采购位置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4663440" y="2148840"/>
            <a:ext cx="2834640" cy="1143000"/>
          </a:xfrm>
          <a:prstGeom prst="ellipse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采购控制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51560"/>
            <a:ext cx="73152" cy="96012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61288"/>
            <a:ext cx="26791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280" b="1">
                <a:solidFill>
                  <a:srgbClr val="122D40"/>
                </a:solidFill>
                <a:latin typeface="Microsoft YaHei"/>
              </a:defRPr>
            </a:pPr>
            <a:r>
              <a:t>设计输入/风险管理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27048"/>
            <a:ext cx="2679192" cy="4297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0252A"/>
                </a:solidFill>
                <a:latin typeface="Microsoft YaHei"/>
              </a:defRPr>
            </a:pPr>
            <a:r>
              <a:t>物料关键特性来自设计和风险控制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77724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777240"/>
            <a:ext cx="73152" cy="960120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886968"/>
            <a:ext cx="26791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280" b="1">
                <a:solidFill>
                  <a:srgbClr val="122D40"/>
                </a:solidFill>
                <a:latin typeface="Microsoft YaHei"/>
              </a:defRPr>
            </a:pPr>
            <a:r>
              <a:t>供应商质量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252728"/>
            <a:ext cx="2679192" cy="4297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0252A"/>
                </a:solidFill>
                <a:latin typeface="Microsoft YaHei"/>
              </a:defRPr>
            </a:pPr>
            <a:r>
              <a:t>准入、审核、绩效、质量协议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5156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51560"/>
            <a:ext cx="73152" cy="960120"/>
          </a:xfrm>
          <a:prstGeom prst="rect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161288"/>
            <a:ext cx="26791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280" b="1">
                <a:solidFill>
                  <a:srgbClr val="122D40"/>
                </a:solidFill>
                <a:latin typeface="Microsoft YaHei"/>
              </a:defRPr>
            </a:pPr>
            <a:r>
              <a:t>生产过程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527048"/>
            <a:ext cx="2679192" cy="4297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0252A"/>
                </a:solidFill>
                <a:latin typeface="Microsoft YaHei"/>
              </a:defRPr>
            </a:pPr>
            <a:r>
              <a:t>来料、外协、特殊过程、过程验证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3192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31920"/>
            <a:ext cx="73152" cy="960120"/>
          </a:xfrm>
          <a:prstGeom prst="rect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41648"/>
            <a:ext cx="26791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280" b="1">
                <a:solidFill>
                  <a:srgbClr val="122D40"/>
                </a:solidFill>
                <a:latin typeface="Microsoft YaHei"/>
              </a:defRPr>
            </a:pPr>
            <a:r>
              <a:t>注册/法规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07408"/>
            <a:ext cx="2679192" cy="4297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0252A"/>
                </a:solidFill>
                <a:latin typeface="Microsoft YaHei"/>
              </a:defRPr>
            </a:pPr>
            <a:r>
              <a:t>产品技术要求、标准、变更边界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457200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4572000"/>
            <a:ext cx="73152" cy="960120"/>
          </a:xfrm>
          <a:prstGeom prst="rect">
            <a:avLst/>
          </a:prstGeom>
          <a:solidFill>
            <a:srgbClr val="00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681728"/>
            <a:ext cx="26791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280" b="1">
                <a:solidFill>
                  <a:srgbClr val="122D40"/>
                </a:solidFill>
                <a:latin typeface="Microsoft YaHei"/>
              </a:defRPr>
            </a:pPr>
            <a:r>
              <a:t>仓储物流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047488"/>
            <a:ext cx="2679192" cy="4297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0252A"/>
                </a:solidFill>
                <a:latin typeface="Microsoft YaHei"/>
              </a:defRPr>
            </a:pPr>
            <a:r>
              <a:t>状态标识、效期、环境、先进先出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93192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931920"/>
            <a:ext cx="73152" cy="960120"/>
          </a:xfrm>
          <a:prstGeom prst="rect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4041648"/>
            <a:ext cx="26791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280" b="1">
                <a:solidFill>
                  <a:srgbClr val="122D40"/>
                </a:solidFill>
                <a:latin typeface="Microsoft YaHei"/>
              </a:defRPr>
            </a:pPr>
            <a:r>
              <a:t>CAPA/上市后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407408"/>
            <a:ext cx="2679192" cy="4297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0252A"/>
                </a:solidFill>
                <a:latin typeface="Microsoft YaHei"/>
              </a:defRPr>
            </a:pPr>
            <a:r>
              <a:t>投诉、退货、不良事件、召回反馈供应商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57600" y="1554480"/>
            <a:ext cx="1005840" cy="868680"/>
          </a:xfrm>
          <a:prstGeom prst="line">
            <a:avLst/>
          </a:prstGeom>
          <a:ln w="1778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43600" y="1737360"/>
            <a:ext cx="45720" cy="411480"/>
          </a:xfrm>
          <a:prstGeom prst="line">
            <a:avLst/>
          </a:prstGeom>
          <a:ln w="1778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498079" y="1554480"/>
            <a:ext cx="594361" cy="868680"/>
          </a:xfrm>
          <a:prstGeom prst="line">
            <a:avLst/>
          </a:prstGeom>
          <a:ln w="1778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657600" y="2926080"/>
            <a:ext cx="1005840" cy="1463040"/>
          </a:xfrm>
          <a:prstGeom prst="line">
            <a:avLst/>
          </a:prstGeom>
          <a:ln w="1778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943600" y="3291840"/>
            <a:ext cx="45720" cy="1280160"/>
          </a:xfrm>
          <a:prstGeom prst="line">
            <a:avLst/>
          </a:prstGeom>
          <a:ln w="1778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7498079" y="2926080"/>
            <a:ext cx="594361" cy="1463040"/>
          </a:xfrm>
          <a:prstGeom prst="line">
            <a:avLst/>
          </a:prstGeom>
          <a:ln w="1778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250" b="0">
                <a:solidFill>
                  <a:srgbClr val="5B6A77"/>
                </a:solidFill>
                <a:latin typeface="Microsoft YaHei"/>
              </a:defRPr>
            </a:pPr>
            <a:r>
              <a:t>采购控制不是采购部单独完成，而是采购、质量、研发、法规、生产、仓储共同闭环。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4）零部件采购全生命周期“风铃图”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10835640" cy="640080"/>
          </a:xfrm>
          <a:prstGeom prst="roundRect">
            <a:avLst/>
          </a:prstGeom>
          <a:solidFill>
            <a:srgbClr val="1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法规要求 + ISO 13485/QMS + 风险管理 + 设计控制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1965960"/>
            <a:ext cx="10287000" cy="0"/>
          </a:xfrm>
          <a:prstGeom prst="line">
            <a:avLst/>
          </a:prstGeom>
          <a:ln w="25400">
            <a:solidFill>
              <a:srgbClr val="0081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80160" y="1965960"/>
            <a:ext cx="0" cy="777240"/>
          </a:xfrm>
          <a:prstGeom prst="line">
            <a:avLst/>
          </a:prstGeom>
          <a:ln w="15240">
            <a:solidFill>
              <a:srgbClr val="78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60704" y="1737360"/>
            <a:ext cx="438912" cy="438912"/>
          </a:xfrm>
          <a:prstGeom prst="ellipse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743200"/>
            <a:ext cx="1133856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20" b="1">
                <a:solidFill>
                  <a:srgbClr val="122D40"/>
                </a:solidFill>
                <a:latin typeface="Microsoft YaHei"/>
              </a:defRPr>
            </a:pPr>
            <a:r>
              <a:t>设计需求</a:t>
            </a:r>
          </a:p>
          <a:p>
            <a:pPr algn="ctr">
              <a:defRPr sz="880">
                <a:solidFill>
                  <a:srgbClr val="5B6A77"/>
                </a:solidFill>
                <a:latin typeface="Microsoft YaHei"/>
              </a:defRPr>
            </a:pPr>
            <a:r>
              <a:t>关键特性</a:t>
            </a:r>
            <a:br/>
            <a:r>
              <a:t>材料清单</a:t>
            </a:r>
          </a:p>
        </p:txBody>
      </p:sp>
      <p:sp>
        <p:nvSpPr>
          <p:cNvPr id="11" name="Diamond 10"/>
          <p:cNvSpPr/>
          <p:nvPr/>
        </p:nvSpPr>
        <p:spPr>
          <a:xfrm>
            <a:off x="1106424" y="4480560"/>
            <a:ext cx="347472" cy="347472"/>
          </a:xfrm>
          <a:prstGeom prst="diamond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852928" y="1965960"/>
            <a:ext cx="0" cy="777240"/>
          </a:xfrm>
          <a:prstGeom prst="line">
            <a:avLst/>
          </a:prstGeom>
          <a:ln w="15240">
            <a:solidFill>
              <a:srgbClr val="78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633472" y="1737360"/>
            <a:ext cx="438912" cy="438912"/>
          </a:xfrm>
          <a:prstGeom prst="ellipse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2743200"/>
            <a:ext cx="1133856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20" b="1">
                <a:solidFill>
                  <a:srgbClr val="122D40"/>
                </a:solidFill>
                <a:latin typeface="Microsoft YaHei"/>
              </a:defRPr>
            </a:pPr>
            <a:r>
              <a:t>物料分级</a:t>
            </a:r>
          </a:p>
          <a:p>
            <a:pPr algn="ctr">
              <a:defRPr sz="880">
                <a:solidFill>
                  <a:srgbClr val="5B6A77"/>
                </a:solidFill>
                <a:latin typeface="Microsoft YaHei"/>
              </a:defRPr>
            </a:pPr>
            <a:r>
              <a:t>关键/重要</a:t>
            </a:r>
            <a:br/>
            <a:r>
              <a:t>一般</a:t>
            </a:r>
          </a:p>
        </p:txBody>
      </p:sp>
      <p:sp>
        <p:nvSpPr>
          <p:cNvPr id="15" name="Diamond 14"/>
          <p:cNvSpPr/>
          <p:nvPr/>
        </p:nvSpPr>
        <p:spPr>
          <a:xfrm>
            <a:off x="2679192" y="4480560"/>
            <a:ext cx="347472" cy="347472"/>
          </a:xfrm>
          <a:prstGeom prst="diamond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425696" y="1965960"/>
            <a:ext cx="0" cy="777240"/>
          </a:xfrm>
          <a:prstGeom prst="line">
            <a:avLst/>
          </a:prstGeom>
          <a:ln w="15240">
            <a:solidFill>
              <a:srgbClr val="78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206240" y="1737360"/>
            <a:ext cx="438912" cy="438912"/>
          </a:xfrm>
          <a:prstGeom prst="ellipse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58768" y="2743200"/>
            <a:ext cx="1133856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9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20" b="1">
                <a:solidFill>
                  <a:srgbClr val="122D40"/>
                </a:solidFill>
                <a:latin typeface="Microsoft YaHei"/>
              </a:defRPr>
            </a:pPr>
            <a:r>
              <a:t>供应商准入</a:t>
            </a:r>
          </a:p>
          <a:p>
            <a:pPr algn="ctr">
              <a:defRPr sz="880">
                <a:solidFill>
                  <a:srgbClr val="5B6A77"/>
                </a:solidFill>
                <a:latin typeface="Microsoft YaHei"/>
              </a:defRPr>
            </a:pPr>
            <a:r>
              <a:t>审核评价</a:t>
            </a:r>
            <a:br/>
            <a:r>
              <a:t>合格名录</a:t>
            </a:r>
          </a:p>
        </p:txBody>
      </p:sp>
      <p:sp>
        <p:nvSpPr>
          <p:cNvPr id="19" name="Diamond 18"/>
          <p:cNvSpPr/>
          <p:nvPr/>
        </p:nvSpPr>
        <p:spPr>
          <a:xfrm>
            <a:off x="4251959" y="4480560"/>
            <a:ext cx="347472" cy="347472"/>
          </a:xfrm>
          <a:prstGeom prst="diamond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998464" y="1965960"/>
            <a:ext cx="0" cy="777240"/>
          </a:xfrm>
          <a:prstGeom prst="line">
            <a:avLst/>
          </a:prstGeom>
          <a:ln w="15240">
            <a:solidFill>
              <a:srgbClr val="78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779008" y="1737360"/>
            <a:ext cx="438912" cy="438912"/>
          </a:xfrm>
          <a:prstGeom prst="ellipse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31536" y="2743200"/>
            <a:ext cx="1133856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EA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20" b="1">
                <a:solidFill>
                  <a:srgbClr val="122D40"/>
                </a:solidFill>
                <a:latin typeface="Microsoft YaHei"/>
              </a:defRPr>
            </a:pPr>
            <a:r>
              <a:t>采购信息</a:t>
            </a:r>
          </a:p>
          <a:p>
            <a:pPr algn="ctr">
              <a:defRPr sz="880">
                <a:solidFill>
                  <a:srgbClr val="5B6A77"/>
                </a:solidFill>
                <a:latin typeface="Microsoft YaHei"/>
              </a:defRPr>
            </a:pPr>
            <a:r>
              <a:t>图纸规格</a:t>
            </a:r>
            <a:br/>
            <a:r>
              <a:t>质量协议</a:t>
            </a:r>
          </a:p>
        </p:txBody>
      </p:sp>
      <p:sp>
        <p:nvSpPr>
          <p:cNvPr id="23" name="Diamond 22"/>
          <p:cNvSpPr/>
          <p:nvPr/>
        </p:nvSpPr>
        <p:spPr>
          <a:xfrm>
            <a:off x="5824728" y="4480560"/>
            <a:ext cx="347472" cy="347472"/>
          </a:xfrm>
          <a:prstGeom prst="diamond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71231" y="1965960"/>
            <a:ext cx="0" cy="777240"/>
          </a:xfrm>
          <a:prstGeom prst="line">
            <a:avLst/>
          </a:prstGeom>
          <a:ln w="15240">
            <a:solidFill>
              <a:srgbClr val="78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351776" y="1737360"/>
            <a:ext cx="438912" cy="438912"/>
          </a:xfrm>
          <a:prstGeom prst="ellipse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04304" y="2743200"/>
            <a:ext cx="1133856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20" b="1">
                <a:solidFill>
                  <a:srgbClr val="122D40"/>
                </a:solidFill>
                <a:latin typeface="Microsoft YaHei"/>
              </a:defRPr>
            </a:pPr>
            <a:r>
              <a:t>来料验证</a:t>
            </a:r>
          </a:p>
          <a:p>
            <a:pPr algn="ctr">
              <a:defRPr sz="880">
                <a:solidFill>
                  <a:srgbClr val="5B6A77"/>
                </a:solidFill>
                <a:latin typeface="Microsoft YaHei"/>
              </a:defRPr>
            </a:pPr>
            <a:r>
              <a:t>COA/IQC</a:t>
            </a:r>
            <a:br/>
            <a:r>
              <a:t>首件确认</a:t>
            </a:r>
          </a:p>
        </p:txBody>
      </p:sp>
      <p:sp>
        <p:nvSpPr>
          <p:cNvPr id="27" name="Diamond 26"/>
          <p:cNvSpPr/>
          <p:nvPr/>
        </p:nvSpPr>
        <p:spPr>
          <a:xfrm>
            <a:off x="7397496" y="4480560"/>
            <a:ext cx="347472" cy="347472"/>
          </a:xfrm>
          <a:prstGeom prst="diamond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143999" y="1965960"/>
            <a:ext cx="0" cy="777240"/>
          </a:xfrm>
          <a:prstGeom prst="line">
            <a:avLst/>
          </a:prstGeom>
          <a:ln w="15240">
            <a:solidFill>
              <a:srgbClr val="78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24544" y="1737360"/>
            <a:ext cx="438912" cy="438912"/>
          </a:xfrm>
          <a:prstGeom prst="ellipse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77072" y="2743200"/>
            <a:ext cx="1133856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E3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20" b="1">
                <a:solidFill>
                  <a:srgbClr val="122D40"/>
                </a:solidFill>
                <a:latin typeface="Microsoft YaHei"/>
              </a:defRPr>
            </a:pPr>
            <a:r>
              <a:t>量产监控</a:t>
            </a:r>
          </a:p>
          <a:p>
            <a:pPr algn="ctr">
              <a:defRPr sz="880">
                <a:solidFill>
                  <a:srgbClr val="5B6A77"/>
                </a:solidFill>
                <a:latin typeface="Microsoft YaHei"/>
              </a:defRPr>
            </a:pPr>
            <a:r>
              <a:t>绩效趋势</a:t>
            </a:r>
            <a:br/>
            <a:r>
              <a:t>异常CAPA</a:t>
            </a:r>
          </a:p>
        </p:txBody>
      </p:sp>
      <p:sp>
        <p:nvSpPr>
          <p:cNvPr id="31" name="Diamond 30"/>
          <p:cNvSpPr/>
          <p:nvPr/>
        </p:nvSpPr>
        <p:spPr>
          <a:xfrm>
            <a:off x="8970263" y="4480560"/>
            <a:ext cx="347472" cy="347472"/>
          </a:xfrm>
          <a:prstGeom prst="diamond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0716767" y="1965960"/>
            <a:ext cx="0" cy="777240"/>
          </a:xfrm>
          <a:prstGeom prst="line">
            <a:avLst/>
          </a:prstGeom>
          <a:ln w="15240">
            <a:solidFill>
              <a:srgbClr val="78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497312" y="1737360"/>
            <a:ext cx="438912" cy="438912"/>
          </a:xfrm>
          <a:prstGeom prst="ellipse">
            <a:avLst/>
          </a:prstGeom>
          <a:solidFill>
            <a:srgbClr val="00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49840" y="2743200"/>
            <a:ext cx="1133856" cy="1600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5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20" b="1">
                <a:solidFill>
                  <a:srgbClr val="122D40"/>
                </a:solidFill>
                <a:latin typeface="Microsoft YaHei"/>
              </a:defRPr>
            </a:pPr>
            <a:r>
              <a:t>变更退出</a:t>
            </a:r>
          </a:p>
          <a:p>
            <a:pPr algn="ctr">
              <a:defRPr sz="880">
                <a:solidFill>
                  <a:srgbClr val="5B6A77"/>
                </a:solidFill>
                <a:latin typeface="Microsoft YaHei"/>
              </a:defRPr>
            </a:pPr>
            <a:r>
              <a:t>变更评估</a:t>
            </a:r>
            <a:br/>
            <a:r>
              <a:t>二供切换</a:t>
            </a:r>
          </a:p>
        </p:txBody>
      </p:sp>
      <p:sp>
        <p:nvSpPr>
          <p:cNvPr id="35" name="Diamond 34"/>
          <p:cNvSpPr/>
          <p:nvPr/>
        </p:nvSpPr>
        <p:spPr>
          <a:xfrm>
            <a:off x="10543032" y="4480560"/>
            <a:ext cx="347472" cy="347472"/>
          </a:xfrm>
          <a:prstGeom prst="diamond">
            <a:avLst/>
          </a:prstGeom>
          <a:solidFill>
            <a:srgbClr val="00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10789920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读图方式：上方是统一约束，下方每个“风铃片”是零部件采购生命周期阶段；采购要确保每个阶段都有规则、证据和责任人。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零部件采购生命周期控制表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914400"/>
          <a:ext cx="112014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834640"/>
                <a:gridCol w="3474720"/>
                <a:gridCol w="3611880"/>
              </a:tblGrid>
              <a:tr h="657225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采购动作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质量/法规输入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关键输出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研发选型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参与可采购性、二供、MOQ、停产风险评估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用户需求、风险分析、法规标准、设计输入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候选供应商、候选物料、风险清单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样品/验证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采购样品、锁定批次、收集 COA/材质/测试报告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图纸、规格、验证方案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样品记录、验证批、供应商初评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供应商准入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完成资质、能力、质量体系和现场/远程审核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供应商分级准则、审核表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合格供应商名单、质量档案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量产下单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按批准版图纸/规格/验收准则下单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BOM、工程变更状态、质量协议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采购订单、合同、交付和质量条款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来料验收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协同 IQC 执行检验、验证、隔离和放行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检验规程、抽样方案、COA要求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来料记录、不合格报告、供应商反馈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持续监控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跟踪交付、质量、投诉、CAPA、变更通知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供应商绩效指标、年度审核计划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绩效评分、再评价、整改/退出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变更/停用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识别供应商/材料/工艺/产地/标准变化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变更控制程序、风险评估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变更批准、验证补充、库存隔离/切换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5）与零部件采购有关的法规与体系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法规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914400"/>
          <a:ext cx="112014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937760"/>
                <a:gridCol w="3794760"/>
              </a:tblGrid>
              <a:tr h="751114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文件/体系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与采购有关的要求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采购落地动作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《医疗器械监督管理条例》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成品分类、注册备案、生产经营使用监管、上市后责任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理解成品风险等级和注册边界，避免供应变化影响合规状态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《医疗器械生产监督管理办法》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生产企业应按法规和质量管理规范组织生产，保证产品持续符合要求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采购过程纳入生产质量体系，供应商/外协不能脱离受控状态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《医疗器械生产质量管理规范》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采购控制、供应商分类管理、合格供应商、质量协议、采购记录、来料验收、关键原材料变更评估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建立采购控制程序、供应商档案、关键物料清单、变更通知机制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ISO 13485:2016 7.4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采购过程、采购信息、采购产品验证；控制深度与风险相适应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供应商评价/再评价、采购信息审批、来料验证、书面变更协议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产品技术要求/注册资料/企业标准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成品性能、安全、材料、测试方法和验收要求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采购规格、图纸、检验规程必须与批准版本一致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1116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相关专项标准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生物相容性、灭菌、包装、电气安全、软件、环境物质等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按产品适用标准确定材料证明、测试报告和供应商能力要求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309360"/>
            <a:ext cx="1042416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840" b="0">
                <a:solidFill>
                  <a:srgbClr val="5B6A77"/>
                </a:solidFill>
                <a:latin typeface="Microsoft YaHei"/>
              </a:defRPr>
            </a:pPr>
            <a:r>
              <a:t>注：法规适用性需结合企业产品类别、注册地和市场要求确认；本页用于采购培训框架。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法规细则：生产质量管理规范中的采购要点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法规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73152" cy="114300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241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采购控制程序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89888"/>
            <a:ext cx="4873752" cy="6126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确保采购的原材料或服务符合规定要求，且不低于法律法规和强制性标准要求。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91440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73152" cy="114300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241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分类管理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873752" cy="6126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根据对产品影响程度，对采购物料/服务及供应商分级管理。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1460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73152" cy="1143000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243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供应商审核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90088"/>
            <a:ext cx="4873752" cy="6126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明确选择、评价、再评价准则，建立合格供应商名单；必要时现场审核。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1460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73152" cy="1143000"/>
          </a:xfrm>
          <a:prstGeom prst="rect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243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关键供应商质量协议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90088"/>
            <a:ext cx="4873752" cy="6126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明确技术要求、验收标准、双方质量责任和变更通知要求。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11480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114800"/>
            <a:ext cx="73152" cy="1143000"/>
          </a:xfrm>
          <a:prstGeom prst="rect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245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采购信息与记录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90288"/>
            <a:ext cx="4873752" cy="6126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明确类别、验收准则、规格型号、规程、图样；记录真实准确完整可追溯。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1480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114800"/>
            <a:ext cx="73152" cy="1143000"/>
          </a:xfrm>
          <a:prstGeom prst="rect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245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变更评估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90288"/>
            <a:ext cx="4873752" cy="6126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要求关键原材料供应商提前告知生产条件、工艺、标准、检验方法等变更，并评估影响。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09360"/>
            <a:ext cx="1042416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840" b="0">
                <a:solidFill>
                  <a:srgbClr val="5B6A77"/>
                </a:solidFill>
                <a:latin typeface="Microsoft YaHei"/>
              </a:defRPr>
            </a:pPr>
            <a:r>
              <a:t>依据：《医疗器械生产质量管理规范》第五十九至第六十八条相关采购与原材料管理要求。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供应商准入：不只是“能供货”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供应商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914400"/>
          <a:ext cx="11018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71800"/>
                <a:gridCol w="3154680"/>
                <a:gridCol w="3063240"/>
              </a:tblGrid>
              <a:tr h="883920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审核维度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采购要收集/确认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质量/工程要确认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常见证据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88392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基本资质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营业执照、生产许可/认证、代理授权、合规声明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资质范围是否覆盖拟购物料/服务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资质文件、认证证书、授权书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技术能力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设备清单、产能、工艺能力、检测能力、工程支持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是否能稳定满足图纸/规格/关键特性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能力评估、样品验证、过程能力数据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88392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质量体系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ISO 13485/ISO 9001、文件控制、变更控制、CAPA、追溯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体系是否覆盖拟供产品和外包过程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审核报告、整改记录、质量手册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供应稳定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交期、MOQ、库存、二供、停产预警、财务稳定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供应中断对生产和上市产品的影响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供应风险评估、备选方案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88392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合规和诚信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环保/禁限用物质、商业合规、数据真实性、保密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是否满足市场法规和客户要求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RoHS/REACH声明、保密协议、廉洁承诺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采购信息：订单必须说清楚什么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采购信息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05840"/>
            <a:ext cx="73152" cy="141732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1556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技术规格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70" b="0">
                <a:solidFill>
                  <a:srgbClr val="20252A"/>
                </a:solidFill>
                <a:latin typeface="Microsoft YaHei"/>
              </a:defRPr>
            </a:pPr>
            <a:r>
              <a:t>物料名称、料号、版本、图纸、规格书、BOM位置、关键尺寸/性能参数。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05840"/>
            <a:ext cx="73152" cy="141732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1556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质量要求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8132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70" b="0">
                <a:solidFill>
                  <a:srgbClr val="20252A"/>
                </a:solidFill>
                <a:latin typeface="Microsoft YaHei"/>
              </a:defRPr>
            </a:pPr>
            <a:r>
              <a:t>验收准则、抽样方案、检验报告、COA/COC、关键特性、过程能力要求。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0058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005840"/>
            <a:ext cx="73152" cy="1417320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法规/标准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8132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70" b="0">
                <a:solidFill>
                  <a:srgbClr val="20252A"/>
                </a:solidFill>
                <a:latin typeface="Microsoft YaHei"/>
              </a:defRPr>
            </a:pPr>
            <a:r>
              <a:t>适用法规、强制性标准、材料安全、生物相容性、环境物质、无菌/洁净要求。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803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880360"/>
            <a:ext cx="73152" cy="1417320"/>
          </a:xfrm>
          <a:prstGeom prst="rect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900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包装储运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558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70" b="0">
                <a:solidFill>
                  <a:srgbClr val="20252A"/>
                </a:solidFill>
                <a:latin typeface="Microsoft YaHei"/>
              </a:defRPr>
            </a:pPr>
            <a:r>
              <a:t>包装方式、洁净/防潮/防静电/温控、标签、批号、有效期、运输条件。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8803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880360"/>
            <a:ext cx="73152" cy="1417320"/>
          </a:xfrm>
          <a:prstGeom prst="rect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9900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变更通知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558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70" b="0">
                <a:solidFill>
                  <a:srgbClr val="20252A"/>
                </a:solidFill>
                <a:latin typeface="Microsoft YaHei"/>
              </a:defRPr>
            </a:pPr>
            <a:r>
              <a:t>材料、工艺、产地、模具、设备、检验方法、供应链下级变化的通知与批准。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8803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2880360"/>
            <a:ext cx="73152" cy="1417320"/>
          </a:xfrm>
          <a:prstGeom prst="rect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9900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记录追溯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3558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70" b="0">
                <a:solidFill>
                  <a:srgbClr val="20252A"/>
                </a:solidFill>
                <a:latin typeface="Microsoft YaHei"/>
              </a:defRPr>
            </a:pPr>
            <a:r>
              <a:t>批号/炉号/序列号、供应商批次、检测记录、生产日期、有效期和保存要求。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59552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122D40"/>
                </a:solidFill>
                <a:latin typeface="Microsoft YaHei"/>
              </a:defRPr>
            </a:pPr>
            <a:r>
              <a:t>采购信息在发给供应商前应经过适当评审，确保充分、准确、版本正确。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质量协议：关键供应商必须讲清责任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质量协议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960120"/>
          <a:ext cx="110185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852160"/>
                <a:gridCol w="3337560"/>
              </a:tblGrid>
              <a:tr h="640080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条款模块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建议约定内容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采购关注点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64008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技术与验收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图纸/规格/标准版本、关键特性、检验项目、COA/COC、放行规则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避免“口头标准”和版本混乱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变更控制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任何影响符合性的材料、工艺、设备、产地、人员、软件、检测方法、二级供应商变化须提前通知/批准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把“先变更后通知”变成红线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64008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不合格与CAPA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不合格反馈、隔离、退换、原因分析、纠正预防措施、响应时限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异常要闭环并进入绩效评价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追溯与记录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批次、炉号、序列号、原始检验记录、保存期限、可追溯到下级供应链的范围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召回和调查时能找到源头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64008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审核权与访问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现场审核、远程审核、客户/监管审核配合、文件查阅边界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关键供应商需保留审核权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保密与知识产权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图纸、模具、配方、软件、专有工艺、客户资料保护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防止技术资料泄露和未授权转供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64008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连续供应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停产预警、产能保障、安全库存、灾备、二供导入配合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9" b="0">
                          <a:solidFill>
                            <a:srgbClr val="20252A"/>
                          </a:solidFill>
                          <a:latin typeface="Microsoft YaHei"/>
                        </a:rPr>
                        <a:t>医疗产品上市后不能轻易断供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来料验证：采购要懂 IQC 关注什么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来料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029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132588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1737360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到货识别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1737360" cy="7955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960" b="0">
                <a:solidFill>
                  <a:srgbClr val="20252A"/>
                </a:solidFill>
                <a:latin typeface="Microsoft YaHei"/>
              </a:defRPr>
            </a:pPr>
            <a:r>
              <a:t>料号/版本/数量/批号/包装/供应商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51176" y="1847088"/>
            <a:ext cx="237744" cy="0"/>
          </a:xfrm>
          <a:prstGeom prst="line">
            <a:avLst/>
          </a:prstGeom>
          <a:ln w="1651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188720"/>
            <a:ext cx="2029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1188720"/>
            <a:ext cx="73152" cy="132588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298448"/>
            <a:ext cx="1737360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文件核对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664208"/>
            <a:ext cx="1737360" cy="7955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960" b="0">
                <a:solidFill>
                  <a:srgbClr val="20252A"/>
                </a:solidFill>
                <a:latin typeface="Microsoft YaHei"/>
              </a:defRPr>
            </a:pPr>
            <a:r>
              <a:t>COA、COC、检验报告、材质证明、灭菌/洁净证明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82896" y="1847088"/>
            <a:ext cx="237744" cy="0"/>
          </a:xfrm>
          <a:prstGeom prst="line">
            <a:avLst/>
          </a:prstGeom>
          <a:ln w="1651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1188720"/>
            <a:ext cx="2029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188720"/>
            <a:ext cx="73152" cy="1325880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1298448"/>
            <a:ext cx="1737360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检验验证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664208"/>
            <a:ext cx="1737360" cy="7955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960" b="0">
                <a:solidFill>
                  <a:srgbClr val="20252A"/>
                </a:solidFill>
                <a:latin typeface="Microsoft YaHei"/>
              </a:defRPr>
            </a:pPr>
            <a:r>
              <a:t>尺寸、性能、外观、功能、环境物质、生物/微生物等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14616" y="1847088"/>
            <a:ext cx="237743" cy="0"/>
          </a:xfrm>
          <a:prstGeom prst="line">
            <a:avLst/>
          </a:prstGeom>
          <a:ln w="1651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188720"/>
            <a:ext cx="2029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188720"/>
            <a:ext cx="73152" cy="1325880"/>
          </a:xfrm>
          <a:prstGeom prst="rect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59" y="1298448"/>
            <a:ext cx="1737360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状态控制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1664208"/>
            <a:ext cx="1737360" cy="7955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960" b="0">
                <a:solidFill>
                  <a:srgbClr val="20252A"/>
                </a:solidFill>
                <a:latin typeface="Microsoft YaHei"/>
              </a:defRPr>
            </a:pPr>
            <a:r>
              <a:t>待验、合格、不合格、让步、隔离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46336" y="1847088"/>
            <a:ext cx="237744" cy="0"/>
          </a:xfrm>
          <a:prstGeom prst="line">
            <a:avLst/>
          </a:prstGeom>
          <a:ln w="16510">
            <a:solidFill>
              <a:srgbClr val="5B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1188720"/>
            <a:ext cx="2029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188720"/>
            <a:ext cx="73152" cy="1325880"/>
          </a:xfrm>
          <a:prstGeom prst="rect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298448"/>
            <a:ext cx="1737360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D40"/>
                </a:solidFill>
                <a:latin typeface="Microsoft YaHei"/>
              </a:defRPr>
            </a:pPr>
            <a:r>
              <a:t>异常闭环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664208"/>
            <a:ext cx="1737360" cy="79552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960" b="0">
                <a:solidFill>
                  <a:srgbClr val="20252A"/>
                </a:solidFill>
                <a:latin typeface="Microsoft YaHei"/>
              </a:defRPr>
            </a:pPr>
            <a:r>
              <a:t>NCR、退换货、供应商8D/CAPA、风险评估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38328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383280"/>
            <a:ext cx="73152" cy="137160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493008"/>
            <a:ext cx="30449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采购的角色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58768"/>
            <a:ext cx="3044952" cy="8412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确保订单要求、供应商承诺和来料证据一致；异常时协调供方快速响应。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38328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383280"/>
            <a:ext cx="73152" cy="137160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3493008"/>
            <a:ext cx="30449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质量的角色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858768"/>
            <a:ext cx="3044952" cy="8412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制定检验规程、抽样方案、放行准则，判定不合格和让步风险。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38328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3383280"/>
            <a:ext cx="73152" cy="1371600"/>
          </a:xfrm>
          <a:prstGeom prst="rect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9" y="3493008"/>
            <a:ext cx="30449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2D40"/>
                </a:solidFill>
                <a:latin typeface="Microsoft YaHei"/>
              </a:defRPr>
            </a:pPr>
            <a:r>
              <a:t>工程/研发角色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19" y="3858768"/>
            <a:ext cx="3044952" cy="8412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判断规格偏差、替代料、工艺变化是否影响设计和验证。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69280"/>
            <a:ext cx="1060704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BE3E34"/>
                </a:solidFill>
                <a:latin typeface="Microsoft YaHei"/>
              </a:defRPr>
            </a:pPr>
            <a:r>
              <a:t>不要让“急着上线生产”覆盖来料验证；医疗行业最怕未经评估的偏差流入成品。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变更控制：零部件采购最大的隐性风险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变更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914400"/>
          <a:ext cx="1101852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560320"/>
                <a:gridCol w="3337560"/>
                <a:gridCol w="3200400"/>
              </a:tblGrid>
              <a:tr h="751114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变更类型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例子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为什么危险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采购应做什么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材料变更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树脂牌号、金属牌号、添加剂、胶黏剂、涂层变化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可能影响生物相容性、强度、老化、灭菌兼容性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要求提前通知；质量/研发评估；必要时重做验证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工艺变更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模具、设备、参数、清洗、热处理、焊接、涂布变化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可能改变尺寸、残留、表面状态和可靠性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纳入质量协议；保留过程变更记录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场地/产线变更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新工厂、新产线、外包给下级供应商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原能力评估可能失效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重新审核或补充评估；首批加强检验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检验方法变更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检测设备、方法、抽样、判定标准变化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可能导致历史数据不可比或漏检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评估方法等效性；更新验收准则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751114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软件/固件变更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软件模块、算法库、驱动、配置文件版本变化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影响功能、网络安全、可用性和验证状态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版本锁定；变更前批准；回归验证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1116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停产/替代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EOL、二供替换、国产替代、降本替代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替代不等于等效，可能触发注册/设计变更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建立替代料导入流程和库存缓冲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309360"/>
            <a:ext cx="1042416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840" b="0">
                <a:solidFill>
                  <a:srgbClr val="5B6A77"/>
                </a:solidFill>
                <a:latin typeface="Microsoft YaHei"/>
              </a:defRPr>
            </a:pPr>
            <a:r>
              <a:t>采购要把供应商变更通知机制写进质量协议和订单条款，并将变更转交质量/研发/法规评审。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特殊零部件/服务采购注意事项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专项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73152" cy="1170432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241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22D40"/>
                </a:solidFill>
                <a:latin typeface="Microsoft YaHei"/>
              </a:defRPr>
            </a:pPr>
            <a:r>
              <a:t>直接接触人体/样本材料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89888"/>
            <a:ext cx="4873752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60" b="0">
                <a:solidFill>
                  <a:srgbClr val="20252A"/>
                </a:solidFill>
                <a:latin typeface="Microsoft YaHei"/>
              </a:defRPr>
            </a:pPr>
            <a:r>
              <a:t>关注生物相容性、化学表征、可萃取/可浸出物、洁净度、残留物。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91440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73152" cy="1170432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241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22D40"/>
                </a:solidFill>
                <a:latin typeface="Microsoft YaHei"/>
              </a:defRPr>
            </a:pPr>
            <a:r>
              <a:t>无菌屏障包装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873752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60" b="0">
                <a:solidFill>
                  <a:srgbClr val="20252A"/>
                </a:solidFill>
                <a:latin typeface="Microsoft YaHei"/>
              </a:defRPr>
            </a:pPr>
            <a:r>
              <a:t>关注包装材料、封口强度、运输验证、老化、灭菌兼容性、供应商变更。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1460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73152" cy="1170432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243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22D40"/>
                </a:solidFill>
                <a:latin typeface="Microsoft YaHei"/>
              </a:defRPr>
            </a:pPr>
            <a:r>
              <a:t>灭菌/清洗/涂层等外协过程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90088"/>
            <a:ext cx="4873752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60" b="0">
                <a:solidFill>
                  <a:srgbClr val="20252A"/>
                </a:solidFill>
                <a:latin typeface="Microsoft YaHei"/>
              </a:defRPr>
            </a:pPr>
            <a:r>
              <a:t>属于特殊过程或关键服务，需能力确认、过程验证、批记录和偏差处理。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1460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73152" cy="1170432"/>
          </a:xfrm>
          <a:prstGeom prst="rect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243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22D40"/>
                </a:solidFill>
                <a:latin typeface="Microsoft YaHei"/>
              </a:defRPr>
            </a:pPr>
            <a:r>
              <a:t>电子元器件/传感器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90088"/>
            <a:ext cx="4873752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60" b="0">
                <a:solidFill>
                  <a:srgbClr val="20252A"/>
                </a:solidFill>
                <a:latin typeface="Microsoft YaHei"/>
              </a:defRPr>
            </a:pPr>
            <a:r>
              <a:t>关注停产 EOL、版本、精度、可靠性、替代料、ESD、防潮和可追溯。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11480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114800"/>
            <a:ext cx="73152" cy="1170432"/>
          </a:xfrm>
          <a:prstGeom prst="rect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245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22D40"/>
                </a:solidFill>
                <a:latin typeface="Microsoft YaHei"/>
              </a:defRPr>
            </a:pPr>
            <a:r>
              <a:t>软件/算法/云服务组件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90288"/>
            <a:ext cx="4873752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60" b="0">
                <a:solidFill>
                  <a:srgbClr val="20252A"/>
                </a:solidFill>
                <a:latin typeface="Microsoft YaHei"/>
              </a:defRPr>
            </a:pPr>
            <a:r>
              <a:t>关注版本控制、网络安全、数据合规、验证证据、开源许可和变更通知。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1480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114800"/>
            <a:ext cx="73152" cy="1170432"/>
          </a:xfrm>
          <a:prstGeom prst="rect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24528"/>
            <a:ext cx="487375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22D40"/>
                </a:solidFill>
                <a:latin typeface="Microsoft YaHei"/>
              </a:defRPr>
            </a:pPr>
            <a:r>
              <a:t>标签说明书/UDI载体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90288"/>
            <a:ext cx="4873752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060" b="0">
                <a:solidFill>
                  <a:srgbClr val="20252A"/>
                </a:solidFill>
                <a:latin typeface="Microsoft YaHei"/>
              </a:defRPr>
            </a:pPr>
            <a:r>
              <a:t>关注注册批准内容、版本、语言、符号、UDI可读性，避免错标漏标。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6）医疗行业零部件采购日常工作注意什么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日常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141732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612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买前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确认物料等级、版本、图纸规格、供应商是否在合格名录。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73152" cy="141732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612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询价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5270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不能只比价格；必须同步质量要求、检验报告、变更通知、追溯要求。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0515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051560"/>
            <a:ext cx="73152" cy="1417320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612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下单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270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订单引用批准版图纸/规格/标准；特殊要求写入订单或质量协议。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92607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926079"/>
            <a:ext cx="73152" cy="1417320"/>
          </a:xfrm>
          <a:prstGeom prst="rect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3580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到货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核对批号、版本、COA/COC、包装和状态；异常先隔离。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92607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926079"/>
            <a:ext cx="73152" cy="1417320"/>
          </a:xfrm>
          <a:prstGeom prst="rect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03580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变更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40156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任何替代、降本、产地/工艺/材料变化先走变更评估。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92607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2926079"/>
            <a:ext cx="73152" cy="1417320"/>
          </a:xfrm>
          <a:prstGeom prst="rect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03580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复盘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40156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交付、质量、投诉、CAPA、价格、服务进入供应商绩效再评价。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122D40"/>
                </a:solidFill>
                <a:latin typeface="Microsoft YaHei"/>
              </a:defRPr>
            </a:pPr>
            <a:r>
              <a:t>日常原则：版本受控、标准清楚、供方合格、来料验证、变更先批、记录可追。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降本、国产替代、二供导入：怎么做才安全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914400"/>
          <a:ext cx="110185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023360"/>
                <a:gridCol w="4937760"/>
              </a:tblGrid>
              <a:tr h="744582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Microsoft YaHei"/>
                        </a:rPr>
                        <a:t>容易犯的错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Microsoft YaHei"/>
                        </a:rPr>
                        <a:t>正确做法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744582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降本替代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只看单价，忽略材料、工艺、检验方法差异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发起变更评估；做等效性分析、样品验证、必要的设计/过程验证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国产替代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认为参数接近即可切换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核对标准、关键特性、可靠性、法规/注册影响、供应商体系能力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744582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二供导入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未经验证直接量产，或只做小样外观确认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按物料等级设定验证深度；首批加强检验；更新合格供方和BOM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停产/EOL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供应商通知后被动抢货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建立EOL预警；评估生命周期库存、替代料、客户/法规影响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744582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紧急采购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因交付压力绕过准入和来料验证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设置紧急采购审批和临时控制，事后必须补齐评估和记录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8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委外加工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只按加工单管理，未纳入供应商体系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60" b="0">
                          <a:solidFill>
                            <a:srgbClr val="20252A"/>
                          </a:solidFill>
                          <a:latin typeface="Microsoft YaHei"/>
                        </a:rPr>
                        <a:t>外协方按供应商管理；明确工艺、设备、人员、检验、记录和变更责任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常见红线与审计证据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914400"/>
          <a:ext cx="1101852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611880"/>
                <a:gridCol w="4160520"/>
              </a:tblGrid>
              <a:tr h="657225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红线/高风险行为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后果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审计要看的证据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使用未批准供应商或未批准物料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产品不符合注册/设计要求，批量质量风险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合格供方名单、物料批准记录、采购订单审批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采购规格/版本与图纸不一致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装配失败、性能偏差、追溯困难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订单、图纸版本、BOM、工程变更记录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供应商变更未通知或未评估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验证失效、注册变更风险、投诉/召回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质量协议、变更通知、风险评估、验证记录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来料证据缺失或放行不清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无法证明产品符合采购要求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COA/COC、检验记录、放行记录、NCR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不合格物料让步使用无评估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缺陷流入成品，监管审核缺陷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偏差/让步审批、风险评估、客户/法规影响评估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关键批次追溯断裂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投诉、召回、调查无法定位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批号/炉号/序列号、供应商批记录、领用和生产批记录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657225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供应商长期绩效差仍持续采购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质量和交付风险反复发生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850" b="0">
                          <a:solidFill>
                            <a:srgbClr val="20252A"/>
                          </a:solidFill>
                          <a:latin typeface="Microsoft YaHei"/>
                        </a:rPr>
                        <a:t>供应商评分、CAPA、再评价、暂停/退出记录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采购人员一页式自查清单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914400"/>
          <a:ext cx="1101852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766560"/>
                <a:gridCol w="3566160"/>
              </a:tblGrid>
              <a:tr h="584200"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自查问题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证据/系统位置</a:t>
                      </a:r>
                    </a:p>
                  </a:txBody>
                  <a:tcPr anchor="ctr">
                    <a:solidFill>
                      <a:srgbClr val="122D40"/>
                    </a:solidFill>
                  </a:tcPr>
                </a:tc>
              </a:tr>
              <a:tr h="5842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该物料/服务属于关键、重要还是一般？分级依据是什么？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物料风险分级表、风险管理文件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供应商是否在合格供应商名单内，资质/审核是否有效？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供应商档案、审核报告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5842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采购订单是否引用正确料号、图纸、规格、标准和版本？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ERP/SRM订单、BOM、图纸库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是否签署必要的质量协议并包含变更通知条款？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质量协议、合同条款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5842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是否明确 COA/COC、检验报告、批号、效期、包装储运要求？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采购信息、订单附件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首批/新供应商/替代料是否完成样品验证或工程确认？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验证报告、首件确认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  <a:tr h="5842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来料异常是否隔离、评估并反馈供应商 CAPA？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NCR、8D、CAPA记录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供应商绩效是否定期评价并影响后续采购策略？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36576" rIns="36576"/>
                    <a:lstStyle/>
                    <a:p>
                      <a:pPr algn="l"/>
                      <a:r>
                        <a:rPr sz="919" b="0">
                          <a:solidFill>
                            <a:srgbClr val="20252A"/>
                          </a:solidFill>
                          <a:latin typeface="Microsoft YaHei"/>
                        </a:rPr>
                        <a:t>供应商评分、再评价报告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217920"/>
            <a:ext cx="1051560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050" b="0">
                <a:solidFill>
                  <a:srgbClr val="5B6A77"/>
                </a:solidFill>
                <a:latin typeface="Microsoft YaHei"/>
              </a:defRPr>
            </a:pPr>
            <a:r>
              <a:t>建议将此清单固化为采购审批流：新物料、新供应商、关键物料、替代料必须强制检查。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总结：医疗零部件采购的六句话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05840"/>
            <a:ext cx="73152" cy="141732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1556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先看成品风险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20252A"/>
                </a:solidFill>
                <a:latin typeface="Microsoft YaHei"/>
              </a:defRPr>
            </a:pPr>
            <a:r>
              <a:t>成品类别和使用场景决定物料控制强度。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05840"/>
            <a:ext cx="73152" cy="141732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1556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再做物料分级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8132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20252A"/>
                </a:solidFill>
                <a:latin typeface="Microsoft YaHei"/>
              </a:defRPr>
            </a:pPr>
            <a:r>
              <a:t>关键、重要、一般物料不能一套流程管到底。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0058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005840"/>
            <a:ext cx="73152" cy="1417320"/>
          </a:xfrm>
          <a:prstGeom prst="rect">
            <a:avLst/>
          </a:prstGeom>
          <a:solidFill>
            <a:srgbClr val="29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供应商必须受控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8132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20252A"/>
                </a:solidFill>
                <a:latin typeface="Microsoft YaHei"/>
              </a:defRPr>
            </a:pPr>
            <a:r>
              <a:t>准入、审核、质量协议、绩效和退出要闭环。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803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880360"/>
            <a:ext cx="73152" cy="1417320"/>
          </a:xfrm>
          <a:prstGeom prst="rect">
            <a:avLst/>
          </a:prstGeom>
          <a:solidFill>
            <a:srgbClr val="EEA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900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采购信息必须准确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558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20252A"/>
                </a:solidFill>
                <a:latin typeface="Microsoft YaHei"/>
              </a:defRPr>
            </a:pPr>
            <a:r>
              <a:t>规格、图纸、版本、验收准则、变更条款要写清。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8803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880360"/>
            <a:ext cx="73152" cy="1417320"/>
          </a:xfrm>
          <a:prstGeom prst="rect">
            <a:avLst/>
          </a:prstGeom>
          <a:solidFill>
            <a:srgbClr val="D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9900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来料必须可证明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558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20252A"/>
                </a:solidFill>
                <a:latin typeface="Microsoft YaHei"/>
              </a:defRPr>
            </a:pPr>
            <a:r>
              <a:t>COA/检验/批号/放行记录要完整可追溯。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8803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2880360"/>
            <a:ext cx="73152" cy="1417320"/>
          </a:xfrm>
          <a:prstGeom prst="rect">
            <a:avLst/>
          </a:prstGeom>
          <a:solidFill>
            <a:srgbClr val="BE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990088"/>
            <a:ext cx="313639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变更必须先评估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355848"/>
            <a:ext cx="3136392" cy="8869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20252A"/>
                </a:solidFill>
                <a:latin typeface="Microsoft YaHei"/>
              </a:defRPr>
            </a:pPr>
            <a:r>
              <a:t>降本、替代、产地、工艺、软件版本变化都不能先斩后奏。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32120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122D40"/>
                </a:solidFill>
                <a:latin typeface="Microsoft YaHei"/>
              </a:defRPr>
            </a:pPr>
            <a:r>
              <a:t>采购的价值：把外部零部件供应链变成企业医疗器械质量体系中“可控、可证、可追”的一部分。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53035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D40"/>
                </a:solidFill>
                <a:latin typeface="Microsoft YaHei"/>
              </a:defRPr>
            </a:pPr>
            <a:r>
              <a:t>参考依据与使用提示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5F7F6"/>
          </a:solidFill>
          <a:ln w="12700">
            <a:solidFill>
              <a:srgbClr val="AE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B62"/>
                </a:solidFill>
                <a:latin typeface="Microsoft YaHei"/>
              </a:defRPr>
            </a:pPr>
            <a: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1632" y="6446520"/>
            <a:ext cx="868680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A77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14400"/>
            <a:ext cx="73152" cy="4389120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5056631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主要参考依据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89888"/>
            <a:ext cx="5056631" cy="38587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《医疗器械监督管理条例》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《医疗器械生产监督管理办法》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《医疗器械生产质量管理规范》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《医疗器械生产企业供应商审核指南》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ISO 13485:2016 第7.4条采购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产品技术要求、注册资料、企业质量体系文件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0252A"/>
                </a:solidFill>
                <a:latin typeface="Microsoft YaHei"/>
              </a:defRPr>
            </a:pPr>
            <a:r>
              <a:t>生物相容性、灭菌、包装、电气安全、软件、UDI等适用专项标准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914400"/>
            <a:ext cx="5074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914400"/>
            <a:ext cx="73152" cy="4389120"/>
          </a:xfrm>
          <a:prstGeom prst="rect">
            <a:avLst/>
          </a:prstGeom>
          <a:solidFill>
            <a:srgbClr val="246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024128"/>
            <a:ext cx="4782312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D40"/>
                </a:solidFill>
                <a:latin typeface="Microsoft YaHei"/>
              </a:defRPr>
            </a:pPr>
            <a:r>
              <a:t>使用提示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389888"/>
            <a:ext cx="4782312" cy="38587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0252A"/>
                </a:solidFill>
                <a:latin typeface="Microsoft YaHei"/>
              </a:defRPr>
            </a:pPr>
            <a:r>
              <a:t>本 PPT 适合医疗器械制造/研发企业采购、供应链、质量、工程协同培训。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0252A"/>
                </a:solidFill>
                <a:latin typeface="Microsoft YaHei"/>
              </a:defRPr>
            </a:pPr>
            <a:r>
              <a:t>具体控制深度应结合产品类别、物料风险、目标市场法规和企业 QMS 文件确定。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0252A"/>
                </a:solidFill>
                <a:latin typeface="Microsoft YaHei"/>
              </a:defRPr>
            </a:pPr>
            <a:r>
              <a:t>建议配套建立：物料分级表、供应商审核表、质量协议模板、采购信息模板、变更通知流程、供应商绩效表。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122D40"/>
                </a:solidFill>
                <a:latin typeface="Microsoft YaHei"/>
              </a:defRPr>
            </a:pPr>
            <a:r>
              <a:t>结束语：医疗行业采购不是“买得到”，而是“买得准、买得稳、买得可证明”。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医疗行业零部件采购合规与质量控制培训</dc:title>
  <dc:subject>医疗器械制造/研发企业零部件、原材料、外协服务采购控制</dc:subject>
  <dc:creator>Cursor Cloud Agent</dc:creator>
  <cp:keywords>医疗器械, 零部件采购, 供应商管理, ISO13485, 采购控制, 变更控制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