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B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566928"/>
            <a:ext cx="3520440" cy="3520440"/>
          </a:xfrm>
          <a:prstGeom prst="ellipse">
            <a:avLst/>
          </a:prstGeom>
          <a:solidFill>
            <a:srgbClr val="1C5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4069080"/>
            <a:ext cx="2057400" cy="2057400"/>
          </a:xfrm>
          <a:prstGeom prst="ellipse">
            <a:avLst/>
          </a:prstGeom>
          <a:solidFill>
            <a:srgbClr val="00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841248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法规风铃图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331720"/>
            <a:ext cx="795527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1800" b="0">
                <a:solidFill>
                  <a:srgbClr val="D4EEEB"/>
                </a:solidFill>
                <a:latin typeface="Microsoft YaHei"/>
              </a:defRPr>
            </a:pPr>
            <a:r>
              <a:t>医疗器械法规、生产监管与质量管理规范的结构化呈现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072384"/>
            <a:ext cx="2377440" cy="384048"/>
          </a:xfrm>
          <a:prstGeom prst="roundRect">
            <a:avLst/>
          </a:prstGeom>
          <a:solidFill>
            <a:srgbClr val="008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采购工程师 / GMP 内审员视角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6053328"/>
            <a:ext cx="89611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DCE8ED"/>
                </a:solidFill>
                <a:latin typeface="Microsoft YaHei"/>
              </a:defRPr>
            </a:pPr>
            <a:r>
              <a:t>依据上传资料整理：条例、生产监督管理办法、生产质量管理规范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012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2400" b="1">
                <a:solidFill>
                  <a:srgbClr val="112B3F"/>
                </a:solidFill>
                <a:latin typeface="Microsoft YaHei"/>
              </a:defRPr>
            </a:pPr>
            <a:r>
              <a:t>如何阅读“法规风铃图”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AF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A62"/>
                </a:solidFill>
                <a:latin typeface="Microsoft YaHei"/>
              </a:defRPr>
            </a:pPr>
            <a:r>
              <a:t>读图方法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5647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73152" cy="1325880"/>
          </a:xfrm>
          <a:prstGeom prst="rect">
            <a:avLst/>
          </a:prstGeom>
          <a:solidFill>
            <a:srgbClr val="008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161288"/>
            <a:ext cx="322783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12B3F"/>
                </a:solidFill>
                <a:latin typeface="Microsoft YaHei"/>
              </a:defRPr>
            </a:pPr>
            <a:r>
              <a:t>上方主干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527048"/>
            <a:ext cx="3227832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1150" b="0">
                <a:solidFill>
                  <a:srgbClr val="20252A"/>
                </a:solidFill>
                <a:latin typeface="Microsoft YaHei"/>
              </a:defRPr>
            </a:pPr>
            <a:r>
              <a:t>代表一部法规/规章/规范，是所有章节共同依附的监管框架。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515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051560"/>
            <a:ext cx="73152" cy="1325880"/>
          </a:xfrm>
          <a:prstGeom prst="rect">
            <a:avLst/>
          </a:prstGeom>
          <a:solidFill>
            <a:srgbClr val="27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161288"/>
            <a:ext cx="322783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12B3F"/>
                </a:solidFill>
                <a:latin typeface="Microsoft YaHei"/>
              </a:defRPr>
            </a:pPr>
            <a:r>
              <a:t>下方风铃片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527048"/>
            <a:ext cx="3227832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1150" b="0">
                <a:solidFill>
                  <a:srgbClr val="20252A"/>
                </a:solidFill>
                <a:latin typeface="Microsoft YaHei"/>
              </a:defRPr>
            </a:pPr>
            <a:r>
              <a:t>每个风铃片代表一个章节，按照法规原有章节顺序从左到右展开。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051560"/>
            <a:ext cx="3520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051560"/>
            <a:ext cx="73152" cy="1325880"/>
          </a:xfrm>
          <a:prstGeom prst="rect">
            <a:avLst/>
          </a:prstGeom>
          <a:solidFill>
            <a:srgbClr val="2EA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161288"/>
            <a:ext cx="322783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12B3F"/>
                </a:solidFill>
                <a:latin typeface="Microsoft YaHei"/>
              </a:defRPr>
            </a:pPr>
            <a:r>
              <a:t>采购视角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527048"/>
            <a:ext cx="3227832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1150" b="0">
                <a:solidFill>
                  <a:srgbClr val="20252A"/>
                </a:solidFill>
                <a:latin typeface="Microsoft YaHei"/>
              </a:defRPr>
            </a:pPr>
            <a:r>
              <a:t>重点关注采购、供应商、原材料、外协服务、验收、追溯和变更控制。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788920"/>
            <a:ext cx="3611880" cy="438912"/>
          </a:xfrm>
          <a:prstGeom prst="roundRect">
            <a:avLst/>
          </a:prstGeom>
          <a:solidFill>
            <a:srgbClr val="11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法规 / 规章 / 规范主干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28800" y="3703320"/>
            <a:ext cx="8549640" cy="0"/>
          </a:xfrm>
          <a:prstGeom prst="line">
            <a:avLst/>
          </a:prstGeom>
          <a:ln w="25400">
            <a:solidFill>
              <a:srgbClr val="008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40280" y="3703320"/>
            <a:ext cx="0" cy="548640"/>
          </a:xfrm>
          <a:prstGeom prst="line">
            <a:avLst/>
          </a:prstGeom>
          <a:ln>
            <a:solidFill>
              <a:srgbClr val="55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828800" y="4251960"/>
            <a:ext cx="82296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7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12B3F"/>
                </a:solidFill>
                <a:latin typeface="Microsoft YaHei"/>
              </a:defRPr>
            </a:pPr>
            <a:r>
              <a:t>章节一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0" y="3703320"/>
            <a:ext cx="0" cy="548640"/>
          </a:xfrm>
          <a:prstGeom prst="line">
            <a:avLst/>
          </a:prstGeom>
          <a:ln>
            <a:solidFill>
              <a:srgbClr val="55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29000" y="4251960"/>
            <a:ext cx="82296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12B3F"/>
                </a:solidFill>
                <a:latin typeface="Microsoft YaHei"/>
              </a:defRPr>
            </a:pPr>
            <a:r>
              <a:t>章节二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40680" y="3703320"/>
            <a:ext cx="0" cy="548640"/>
          </a:xfrm>
          <a:prstGeom prst="line">
            <a:avLst/>
          </a:prstGeom>
          <a:ln>
            <a:solidFill>
              <a:srgbClr val="55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29200" y="4251960"/>
            <a:ext cx="82296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A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12B3F"/>
                </a:solidFill>
                <a:latin typeface="Microsoft YaHei"/>
              </a:defRPr>
            </a:pPr>
            <a:r>
              <a:t>章节三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40880" y="3703320"/>
            <a:ext cx="0" cy="548640"/>
          </a:xfrm>
          <a:prstGeom prst="line">
            <a:avLst/>
          </a:prstGeom>
          <a:ln>
            <a:solidFill>
              <a:srgbClr val="55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629400" y="4251960"/>
            <a:ext cx="82296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BA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12B3F"/>
                </a:solidFill>
                <a:latin typeface="Microsoft YaHei"/>
              </a:defRPr>
            </a:pPr>
            <a:r>
              <a:t>章节四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41080" y="3703320"/>
            <a:ext cx="0" cy="548640"/>
          </a:xfrm>
          <a:prstGeom prst="line">
            <a:avLst/>
          </a:prstGeom>
          <a:ln>
            <a:solidFill>
              <a:srgbClr val="55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29600" y="4251960"/>
            <a:ext cx="82296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E7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12B3F"/>
                </a:solidFill>
                <a:latin typeface="Microsoft YaHei"/>
              </a:defRPr>
            </a:pPr>
            <a:r>
              <a:t>章节五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241280" y="3703320"/>
            <a:ext cx="0" cy="548640"/>
          </a:xfrm>
          <a:prstGeom prst="line">
            <a:avLst/>
          </a:prstGeom>
          <a:ln>
            <a:solidFill>
              <a:srgbClr val="55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29800" y="4251960"/>
            <a:ext cx="82296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C4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12B3F"/>
                </a:solidFill>
                <a:latin typeface="Microsoft YaHei"/>
              </a:defRPr>
            </a:pPr>
            <a:r>
              <a:t>章节六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12B3F"/>
                </a:solidFill>
                <a:latin typeface="Microsoft YaHei"/>
              </a:defRPr>
            </a:pPr>
            <a:r>
              <a:t>理解重点：风铃图不是重新解释条文，而是帮助快速看清“法规结构”和“采购/GMP 内审关注节点”。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012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2400" b="1">
                <a:solidFill>
                  <a:srgbClr val="112B3F"/>
                </a:solidFill>
                <a:latin typeface="Microsoft YaHei"/>
              </a:defRPr>
            </a:pPr>
            <a:r>
              <a:t>医疗器械监督管理条例：全生命周期监管框架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AF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A62"/>
                </a:solidFill>
                <a:latin typeface="Microsoft YaHei"/>
              </a:defRPr>
            </a:pPr>
            <a:r>
              <a:t>条例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5647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7047" y="1005840"/>
            <a:ext cx="3657600" cy="512064"/>
          </a:xfrm>
          <a:prstGeom prst="roundRect">
            <a:avLst/>
          </a:prstGeom>
          <a:solidFill>
            <a:srgbClr val="11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医疗器械监督管理条例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14983" y="1956816"/>
            <a:ext cx="10149841" cy="0"/>
          </a:xfrm>
          <a:prstGeom prst="line">
            <a:avLst/>
          </a:prstGeom>
          <a:ln w="25400">
            <a:solidFill>
              <a:srgbClr val="008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390" y="1517904"/>
            <a:ext cx="0" cy="438912"/>
          </a:xfrm>
          <a:prstGeom prst="line">
            <a:avLst/>
          </a:prstGeom>
          <a:ln w="22860">
            <a:solidFill>
              <a:srgbClr val="008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69314" y="1956816"/>
            <a:ext cx="0" cy="740663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268730" y="1856232"/>
            <a:ext cx="201168" cy="201168"/>
          </a:xfrm>
          <a:prstGeom prst="ellipse">
            <a:avLst/>
          </a:prstGeom>
          <a:solidFill>
            <a:srgbClr val="27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2770632"/>
            <a:ext cx="116586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>
                <a:solidFill>
                  <a:srgbClr val="2770B2"/>
                </a:solidFill>
                <a:latin typeface="Microsoft YaHei"/>
              </a:defRPr>
            </a:pPr>
            <a:r>
              <a:t>第一章</a:t>
            </a:r>
          </a:p>
          <a:p>
            <a:pPr algn="ctr">
              <a:defRPr sz="1000" b="1">
                <a:solidFill>
                  <a:srgbClr val="112B3F"/>
                </a:solidFill>
                <a:latin typeface="Microsoft YaHei"/>
              </a:defRPr>
            </a:pPr>
            <a:r>
              <a:t>总则</a:t>
            </a:r>
          </a:p>
          <a:p>
            <a:pPr algn="ctr">
              <a:defRPr sz="750">
                <a:solidFill>
                  <a:srgbClr val="556470"/>
                </a:solidFill>
                <a:latin typeface="Microsoft YaHei"/>
              </a:defRPr>
            </a:pPr>
            <a:r>
              <a:t>监管原则</a:t>
            </a:r>
            <a:br/>
            <a:r>
              <a:t>分类管理</a:t>
            </a:r>
          </a:p>
        </p:txBody>
      </p:sp>
      <p:sp>
        <p:nvSpPr>
          <p:cNvPr id="12" name="Diamond 11"/>
          <p:cNvSpPr/>
          <p:nvPr/>
        </p:nvSpPr>
        <p:spPr>
          <a:xfrm>
            <a:off x="1250442" y="4544568"/>
            <a:ext cx="237744" cy="237744"/>
          </a:xfrm>
          <a:prstGeom prst="diamond">
            <a:avLst/>
          </a:prstGeom>
          <a:solidFill>
            <a:srgbClr val="27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2718054" y="1956816"/>
            <a:ext cx="0" cy="740663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617470" y="1856232"/>
            <a:ext cx="201168" cy="201168"/>
          </a:xfrm>
          <a:prstGeom prst="ellipse">
            <a:avLst/>
          </a:prstGeom>
          <a:solidFill>
            <a:srgbClr val="008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135124" y="2770632"/>
            <a:ext cx="116586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>
                <a:solidFill>
                  <a:srgbClr val="008088"/>
                </a:solidFill>
                <a:latin typeface="Microsoft YaHei"/>
              </a:defRPr>
            </a:pPr>
            <a:r>
              <a:t>第二章</a:t>
            </a:r>
          </a:p>
          <a:p>
            <a:pPr algn="ctr">
              <a:defRPr sz="1000" b="1">
                <a:solidFill>
                  <a:srgbClr val="112B3F"/>
                </a:solidFill>
                <a:latin typeface="Microsoft YaHei"/>
              </a:defRPr>
            </a:pPr>
            <a:r>
              <a:t>产品注册</a:t>
            </a:r>
            <a:br/>
            <a:r>
              <a:t>与备案</a:t>
            </a:r>
          </a:p>
          <a:p>
            <a:pPr algn="ctr">
              <a:defRPr sz="750">
                <a:solidFill>
                  <a:srgbClr val="556470"/>
                </a:solidFill>
                <a:latin typeface="Microsoft YaHei"/>
              </a:defRPr>
            </a:pPr>
            <a:r>
              <a:t>出生许可</a:t>
            </a:r>
            <a:br/>
            <a:r>
              <a:t>准入上市</a:t>
            </a:r>
          </a:p>
        </p:txBody>
      </p:sp>
      <p:sp>
        <p:nvSpPr>
          <p:cNvPr id="16" name="Diamond 15"/>
          <p:cNvSpPr/>
          <p:nvPr/>
        </p:nvSpPr>
        <p:spPr>
          <a:xfrm>
            <a:off x="2599182" y="4544568"/>
            <a:ext cx="237744" cy="237744"/>
          </a:xfrm>
          <a:prstGeom prst="diamond">
            <a:avLst/>
          </a:prstGeom>
          <a:solidFill>
            <a:srgbClr val="008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066794" y="1956816"/>
            <a:ext cx="0" cy="740663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966209" y="1856232"/>
            <a:ext cx="201168" cy="201168"/>
          </a:xfrm>
          <a:prstGeom prst="ellipse">
            <a:avLst/>
          </a:prstGeom>
          <a:solidFill>
            <a:srgbClr val="2EA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83863" y="2770632"/>
            <a:ext cx="116586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A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>
                <a:solidFill>
                  <a:srgbClr val="2EA06D"/>
                </a:solidFill>
                <a:latin typeface="Microsoft YaHei"/>
              </a:defRPr>
            </a:pPr>
            <a:r>
              <a:t>第三章</a:t>
            </a:r>
          </a:p>
          <a:p>
            <a:pPr algn="ctr">
              <a:defRPr sz="1000" b="1">
                <a:solidFill>
                  <a:srgbClr val="112B3F"/>
                </a:solidFill>
                <a:latin typeface="Microsoft YaHei"/>
              </a:defRPr>
            </a:pPr>
            <a:r>
              <a:t>医疗器械</a:t>
            </a:r>
            <a:br/>
            <a:r>
              <a:t>生产</a:t>
            </a:r>
          </a:p>
          <a:p>
            <a:pPr algn="ctr">
              <a:defRPr sz="750">
                <a:solidFill>
                  <a:srgbClr val="556470"/>
                </a:solidFill>
                <a:latin typeface="Microsoft YaHei"/>
              </a:defRPr>
            </a:pPr>
            <a:r>
              <a:t>生产体系</a:t>
            </a:r>
            <a:br/>
            <a:r>
              <a:t>质量保证</a:t>
            </a:r>
          </a:p>
        </p:txBody>
      </p:sp>
      <p:sp>
        <p:nvSpPr>
          <p:cNvPr id="20" name="Diamond 19"/>
          <p:cNvSpPr/>
          <p:nvPr/>
        </p:nvSpPr>
        <p:spPr>
          <a:xfrm>
            <a:off x="3947922" y="4544568"/>
            <a:ext cx="237744" cy="237744"/>
          </a:xfrm>
          <a:prstGeom prst="diamond">
            <a:avLst/>
          </a:prstGeom>
          <a:solidFill>
            <a:srgbClr val="2EA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415534" y="1956816"/>
            <a:ext cx="0" cy="740663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314950" y="1856232"/>
            <a:ext cx="201168" cy="201168"/>
          </a:xfrm>
          <a:prstGeom prst="ellipse">
            <a:avLst/>
          </a:prstGeom>
          <a:solidFill>
            <a:srgbClr val="EB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32604" y="2770632"/>
            <a:ext cx="116586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A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>
                <a:solidFill>
                  <a:srgbClr val="EBA426"/>
                </a:solidFill>
                <a:latin typeface="Microsoft YaHei"/>
              </a:defRPr>
            </a:pPr>
            <a:r>
              <a:t>第四章</a:t>
            </a:r>
          </a:p>
          <a:p>
            <a:pPr algn="ctr">
              <a:defRPr sz="1000" b="1">
                <a:solidFill>
                  <a:srgbClr val="112B3F"/>
                </a:solidFill>
                <a:latin typeface="Microsoft YaHei"/>
              </a:defRPr>
            </a:pPr>
            <a:r>
              <a:t>经营与使用</a:t>
            </a:r>
          </a:p>
          <a:p>
            <a:pPr algn="ctr">
              <a:defRPr sz="750">
                <a:solidFill>
                  <a:srgbClr val="556470"/>
                </a:solidFill>
                <a:latin typeface="Microsoft YaHei"/>
              </a:defRPr>
            </a:pPr>
            <a:r>
              <a:t>流通采购</a:t>
            </a:r>
            <a:br/>
            <a:r>
              <a:t>临床使用</a:t>
            </a:r>
          </a:p>
        </p:txBody>
      </p:sp>
      <p:sp>
        <p:nvSpPr>
          <p:cNvPr id="24" name="Diamond 23"/>
          <p:cNvSpPr/>
          <p:nvPr/>
        </p:nvSpPr>
        <p:spPr>
          <a:xfrm>
            <a:off x="5296662" y="4544568"/>
            <a:ext cx="237744" cy="237744"/>
          </a:xfrm>
          <a:prstGeom prst="diamond">
            <a:avLst/>
          </a:prstGeom>
          <a:solidFill>
            <a:srgbClr val="EB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764274" y="1956816"/>
            <a:ext cx="0" cy="740663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663690" y="1856232"/>
            <a:ext cx="201168" cy="201168"/>
          </a:xfrm>
          <a:prstGeom prst="ellipse">
            <a:avLst/>
          </a:prstGeom>
          <a:solidFill>
            <a:srgbClr val="DE7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81344" y="2770632"/>
            <a:ext cx="116586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7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>
                <a:solidFill>
                  <a:srgbClr val="DE742B"/>
                </a:solidFill>
                <a:latin typeface="Microsoft YaHei"/>
              </a:defRPr>
            </a:pPr>
            <a:r>
              <a:t>第五章</a:t>
            </a:r>
          </a:p>
          <a:p>
            <a:pPr algn="ctr">
              <a:defRPr sz="1000" b="1">
                <a:solidFill>
                  <a:srgbClr val="112B3F"/>
                </a:solidFill>
                <a:latin typeface="Microsoft YaHei"/>
              </a:defRPr>
            </a:pPr>
            <a:r>
              <a:t>不良事件处理</a:t>
            </a:r>
            <a:br/>
            <a:r>
              <a:t>与召回</a:t>
            </a:r>
          </a:p>
          <a:p>
            <a:pPr algn="ctr">
              <a:defRPr sz="750">
                <a:solidFill>
                  <a:srgbClr val="556470"/>
                </a:solidFill>
                <a:latin typeface="Microsoft YaHei"/>
              </a:defRPr>
            </a:pPr>
            <a:r>
              <a:t>上市后监测</a:t>
            </a:r>
            <a:br/>
            <a:r>
              <a:t>风险处置</a:t>
            </a:r>
          </a:p>
        </p:txBody>
      </p:sp>
      <p:sp>
        <p:nvSpPr>
          <p:cNvPr id="28" name="Diamond 27"/>
          <p:cNvSpPr/>
          <p:nvPr/>
        </p:nvSpPr>
        <p:spPr>
          <a:xfrm>
            <a:off x="6645402" y="4544568"/>
            <a:ext cx="237744" cy="237744"/>
          </a:xfrm>
          <a:prstGeom prst="diamond">
            <a:avLst/>
          </a:prstGeom>
          <a:solidFill>
            <a:srgbClr val="DE7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8113013" y="1956816"/>
            <a:ext cx="0" cy="740663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012429" y="1856232"/>
            <a:ext cx="201168" cy="201168"/>
          </a:xfrm>
          <a:prstGeom prst="ellipse">
            <a:avLst/>
          </a:prstGeom>
          <a:solidFill>
            <a:srgbClr val="BC4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30083" y="2770632"/>
            <a:ext cx="116586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4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>
                <a:solidFill>
                  <a:srgbClr val="BC4136"/>
                </a:solidFill>
                <a:latin typeface="Microsoft YaHei"/>
              </a:defRPr>
            </a:pPr>
            <a:r>
              <a:t>第六章</a:t>
            </a:r>
          </a:p>
          <a:p>
            <a:pPr algn="ctr">
              <a:defRPr sz="1000" b="1">
                <a:solidFill>
                  <a:srgbClr val="112B3F"/>
                </a:solidFill>
                <a:latin typeface="Microsoft YaHei"/>
              </a:defRPr>
            </a:pPr>
            <a:r>
              <a:t>监督检查</a:t>
            </a:r>
          </a:p>
          <a:p>
            <a:pPr algn="ctr">
              <a:defRPr sz="750">
                <a:solidFill>
                  <a:srgbClr val="556470"/>
                </a:solidFill>
                <a:latin typeface="Microsoft YaHei"/>
              </a:defRPr>
            </a:pPr>
            <a:r>
              <a:t>监管部门</a:t>
            </a:r>
            <a:br/>
            <a:r>
              <a:t>检查执法</a:t>
            </a:r>
          </a:p>
        </p:txBody>
      </p:sp>
      <p:sp>
        <p:nvSpPr>
          <p:cNvPr id="32" name="Diamond 31"/>
          <p:cNvSpPr/>
          <p:nvPr/>
        </p:nvSpPr>
        <p:spPr>
          <a:xfrm>
            <a:off x="7994141" y="4544568"/>
            <a:ext cx="237744" cy="237744"/>
          </a:xfrm>
          <a:prstGeom prst="diamond">
            <a:avLst/>
          </a:prstGeom>
          <a:solidFill>
            <a:srgbClr val="BC4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9461753" y="1956816"/>
            <a:ext cx="0" cy="740663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361169" y="1856232"/>
            <a:ext cx="201168" cy="201168"/>
          </a:xfrm>
          <a:prstGeom prst="ellipse">
            <a:avLst/>
          </a:prstGeom>
          <a:solidFill>
            <a:srgbClr val="6F5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78824" y="2770632"/>
            <a:ext cx="116586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F5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>
                <a:solidFill>
                  <a:srgbClr val="6F58A9"/>
                </a:solidFill>
                <a:latin typeface="Microsoft YaHei"/>
              </a:defRPr>
            </a:pPr>
            <a:r>
              <a:t>第七章</a:t>
            </a:r>
          </a:p>
          <a:p>
            <a:pPr algn="ctr">
              <a:defRPr sz="1000" b="1">
                <a:solidFill>
                  <a:srgbClr val="112B3F"/>
                </a:solidFill>
                <a:latin typeface="Microsoft YaHei"/>
              </a:defRPr>
            </a:pPr>
            <a:r>
              <a:t>法律责任</a:t>
            </a:r>
          </a:p>
          <a:p>
            <a:pPr algn="ctr">
              <a:defRPr sz="750">
                <a:solidFill>
                  <a:srgbClr val="556470"/>
                </a:solidFill>
                <a:latin typeface="Microsoft YaHei"/>
              </a:defRPr>
            </a:pPr>
            <a:r>
              <a:t>违规处罚</a:t>
            </a:r>
            <a:br/>
            <a:r>
              <a:t>责任追究</a:t>
            </a:r>
          </a:p>
        </p:txBody>
      </p:sp>
      <p:sp>
        <p:nvSpPr>
          <p:cNvPr id="36" name="Diamond 35"/>
          <p:cNvSpPr/>
          <p:nvPr/>
        </p:nvSpPr>
        <p:spPr>
          <a:xfrm>
            <a:off x="9342881" y="4544568"/>
            <a:ext cx="237744" cy="237744"/>
          </a:xfrm>
          <a:prstGeom prst="diamond">
            <a:avLst/>
          </a:prstGeom>
          <a:solidFill>
            <a:srgbClr val="6F5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10810493" y="1956816"/>
            <a:ext cx="0" cy="740663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0709909" y="1856232"/>
            <a:ext cx="201168" cy="201168"/>
          </a:xfrm>
          <a:prstGeom prst="ellipse">
            <a:avLst/>
          </a:prstGeom>
          <a:solidFill>
            <a:srgbClr val="27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227563" y="2770632"/>
            <a:ext cx="1165860" cy="15727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>
                <a:solidFill>
                  <a:srgbClr val="2770B2"/>
                </a:solidFill>
                <a:latin typeface="Microsoft YaHei"/>
              </a:defRPr>
            </a:pPr>
            <a:r>
              <a:t>第八章</a:t>
            </a:r>
          </a:p>
          <a:p>
            <a:pPr algn="ctr">
              <a:defRPr sz="1000" b="1">
                <a:solidFill>
                  <a:srgbClr val="112B3F"/>
                </a:solidFill>
                <a:latin typeface="Microsoft YaHei"/>
              </a:defRPr>
            </a:pPr>
            <a:r>
              <a:t>附则</a:t>
            </a:r>
          </a:p>
          <a:p>
            <a:pPr algn="ctr">
              <a:defRPr sz="750">
                <a:solidFill>
                  <a:srgbClr val="556470"/>
                </a:solidFill>
                <a:latin typeface="Microsoft YaHei"/>
              </a:defRPr>
            </a:pPr>
            <a:r>
              <a:t>补充说明</a:t>
            </a:r>
            <a:br/>
            <a:r>
              <a:t>实施规则</a:t>
            </a:r>
          </a:p>
        </p:txBody>
      </p:sp>
      <p:sp>
        <p:nvSpPr>
          <p:cNvPr id="40" name="Diamond 39"/>
          <p:cNvSpPr/>
          <p:nvPr/>
        </p:nvSpPr>
        <p:spPr>
          <a:xfrm>
            <a:off x="10691621" y="4544568"/>
            <a:ext cx="237744" cy="237744"/>
          </a:xfrm>
          <a:prstGeom prst="diamond">
            <a:avLst/>
          </a:prstGeom>
          <a:solidFill>
            <a:srgbClr val="27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291072"/>
            <a:ext cx="10332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840" b="0">
                <a:solidFill>
                  <a:srgbClr val="556470"/>
                </a:solidFill>
                <a:latin typeface="Microsoft YaHei"/>
              </a:defRPr>
            </a:pPr>
            <a:r>
              <a:t>理解方式：条例像“母法框架”，覆盖医疗器械从注册上市、生产、经营使用到上市后监管、召回和法律责任的全过程。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012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2400" b="1">
                <a:solidFill>
                  <a:srgbClr val="112B3F"/>
                </a:solidFill>
                <a:latin typeface="Microsoft YaHei"/>
              </a:defRPr>
            </a:pPr>
            <a:r>
              <a:t>医疗器械生产监督管理办法：生产企业监管框架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AF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A62"/>
                </a:solidFill>
                <a:latin typeface="Microsoft YaHei"/>
              </a:defRPr>
            </a:pPr>
            <a:r>
              <a:t>生产监管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5647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7047" y="1005840"/>
            <a:ext cx="3657600" cy="512064"/>
          </a:xfrm>
          <a:prstGeom prst="roundRect">
            <a:avLst/>
          </a:prstGeom>
          <a:solidFill>
            <a:srgbClr val="11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医疗器械生产监督管理办法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1956816"/>
            <a:ext cx="8503920" cy="0"/>
          </a:xfrm>
          <a:prstGeom prst="line">
            <a:avLst/>
          </a:prstGeom>
          <a:ln w="25400">
            <a:solidFill>
              <a:srgbClr val="008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390" y="1517904"/>
            <a:ext cx="0" cy="438912"/>
          </a:xfrm>
          <a:prstGeom prst="line">
            <a:avLst/>
          </a:prstGeom>
          <a:ln w="22860">
            <a:solidFill>
              <a:srgbClr val="008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621127" y="1956816"/>
            <a:ext cx="0" cy="758952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520543" y="1856232"/>
            <a:ext cx="201168" cy="201168"/>
          </a:xfrm>
          <a:prstGeom prst="ellipse">
            <a:avLst/>
          </a:prstGeom>
          <a:solidFill>
            <a:srgbClr val="27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7623" y="2788920"/>
            <a:ext cx="1207008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>
                <a:solidFill>
                  <a:srgbClr val="2770B2"/>
                </a:solidFill>
                <a:latin typeface="Microsoft YaHei"/>
              </a:defRPr>
            </a:pPr>
            <a:r>
              <a:t>第一章</a:t>
            </a:r>
          </a:p>
          <a:p>
            <a:pPr algn="ctr">
              <a:defRPr sz="1000" b="1">
                <a:solidFill>
                  <a:srgbClr val="112B3F"/>
                </a:solidFill>
                <a:latin typeface="Microsoft YaHei"/>
              </a:defRPr>
            </a:pPr>
            <a:r>
              <a:t>总则</a:t>
            </a:r>
          </a:p>
          <a:p>
            <a:pPr algn="ctr">
              <a:defRPr sz="750">
                <a:solidFill>
                  <a:srgbClr val="556470"/>
                </a:solidFill>
                <a:latin typeface="Microsoft YaHei"/>
              </a:defRPr>
            </a:pPr>
            <a:r>
              <a:t>监管原则</a:t>
            </a:r>
            <a:br/>
            <a:r>
              <a:t>职责边界</a:t>
            </a:r>
          </a:p>
        </p:txBody>
      </p:sp>
      <p:sp>
        <p:nvSpPr>
          <p:cNvPr id="12" name="Diamond 11"/>
          <p:cNvSpPr/>
          <p:nvPr/>
        </p:nvSpPr>
        <p:spPr>
          <a:xfrm>
            <a:off x="2502255" y="4590288"/>
            <a:ext cx="237744" cy="237744"/>
          </a:xfrm>
          <a:prstGeom prst="diamond">
            <a:avLst/>
          </a:prstGeom>
          <a:solidFill>
            <a:srgbClr val="27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011015" y="1956816"/>
            <a:ext cx="0" cy="758952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910431" y="1856232"/>
            <a:ext cx="201168" cy="201168"/>
          </a:xfrm>
          <a:prstGeom prst="ellipse">
            <a:avLst/>
          </a:prstGeom>
          <a:solidFill>
            <a:srgbClr val="008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07511" y="2788920"/>
            <a:ext cx="1207008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>
                <a:solidFill>
                  <a:srgbClr val="008088"/>
                </a:solidFill>
                <a:latin typeface="Microsoft YaHei"/>
              </a:defRPr>
            </a:pPr>
            <a:r>
              <a:t>第二章</a:t>
            </a:r>
          </a:p>
          <a:p>
            <a:pPr algn="ctr">
              <a:defRPr sz="1000" b="1">
                <a:solidFill>
                  <a:srgbClr val="112B3F"/>
                </a:solidFill>
                <a:latin typeface="Microsoft YaHei"/>
              </a:defRPr>
            </a:pPr>
            <a:r>
              <a:t>生产许可</a:t>
            </a:r>
            <a:br/>
            <a:r>
              <a:t>与备案管理</a:t>
            </a:r>
          </a:p>
          <a:p>
            <a:pPr algn="ctr">
              <a:defRPr sz="750">
                <a:solidFill>
                  <a:srgbClr val="556470"/>
                </a:solidFill>
                <a:latin typeface="Microsoft YaHei"/>
              </a:defRPr>
            </a:pPr>
            <a:r>
              <a:t>企业准入</a:t>
            </a:r>
            <a:br/>
            <a:r>
              <a:t>许可备案</a:t>
            </a:r>
          </a:p>
        </p:txBody>
      </p:sp>
      <p:sp>
        <p:nvSpPr>
          <p:cNvPr id="16" name="Diamond 15"/>
          <p:cNvSpPr/>
          <p:nvPr/>
        </p:nvSpPr>
        <p:spPr>
          <a:xfrm>
            <a:off x="3892143" y="4590288"/>
            <a:ext cx="237744" cy="237744"/>
          </a:xfrm>
          <a:prstGeom prst="diamond">
            <a:avLst/>
          </a:prstGeom>
          <a:solidFill>
            <a:srgbClr val="008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400903" y="1956816"/>
            <a:ext cx="0" cy="758952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300319" y="1856232"/>
            <a:ext cx="201168" cy="201168"/>
          </a:xfrm>
          <a:prstGeom prst="ellipse">
            <a:avLst/>
          </a:prstGeom>
          <a:solidFill>
            <a:srgbClr val="2EA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97399" y="2788920"/>
            <a:ext cx="1207008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A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>
                <a:solidFill>
                  <a:srgbClr val="2EA06D"/>
                </a:solidFill>
                <a:latin typeface="Microsoft YaHei"/>
              </a:defRPr>
            </a:pPr>
            <a:r>
              <a:t>第三章</a:t>
            </a:r>
          </a:p>
          <a:p>
            <a:pPr algn="ctr">
              <a:defRPr sz="1000" b="1">
                <a:solidFill>
                  <a:srgbClr val="112B3F"/>
                </a:solidFill>
                <a:latin typeface="Microsoft YaHei"/>
              </a:defRPr>
            </a:pPr>
            <a:r>
              <a:t>生产质量</a:t>
            </a:r>
            <a:br/>
            <a:r>
              <a:t>管理</a:t>
            </a:r>
          </a:p>
          <a:p>
            <a:pPr algn="ctr">
              <a:defRPr sz="750">
                <a:solidFill>
                  <a:srgbClr val="556470"/>
                </a:solidFill>
                <a:latin typeface="Microsoft YaHei"/>
              </a:defRPr>
            </a:pPr>
            <a:r>
              <a:t>持续符合</a:t>
            </a:r>
            <a:br/>
            <a:r>
              <a:t>质量体系</a:t>
            </a:r>
          </a:p>
        </p:txBody>
      </p:sp>
      <p:sp>
        <p:nvSpPr>
          <p:cNvPr id="20" name="Diamond 19"/>
          <p:cNvSpPr/>
          <p:nvPr/>
        </p:nvSpPr>
        <p:spPr>
          <a:xfrm>
            <a:off x="5282031" y="4590288"/>
            <a:ext cx="237744" cy="237744"/>
          </a:xfrm>
          <a:prstGeom prst="diamond">
            <a:avLst/>
          </a:prstGeom>
          <a:solidFill>
            <a:srgbClr val="2EA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790791" y="1956816"/>
            <a:ext cx="0" cy="758952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690207" y="1856232"/>
            <a:ext cx="201168" cy="201168"/>
          </a:xfrm>
          <a:prstGeom prst="ellipse">
            <a:avLst/>
          </a:prstGeom>
          <a:solidFill>
            <a:srgbClr val="EB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87287" y="2788920"/>
            <a:ext cx="1207008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A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>
                <a:solidFill>
                  <a:srgbClr val="EBA426"/>
                </a:solidFill>
                <a:latin typeface="Microsoft YaHei"/>
              </a:defRPr>
            </a:pPr>
            <a:r>
              <a:t>第四章</a:t>
            </a:r>
          </a:p>
          <a:p>
            <a:pPr algn="ctr">
              <a:defRPr sz="1000" b="1">
                <a:solidFill>
                  <a:srgbClr val="112B3F"/>
                </a:solidFill>
                <a:latin typeface="Microsoft YaHei"/>
              </a:defRPr>
            </a:pPr>
            <a:r>
              <a:t>监督检查</a:t>
            </a:r>
          </a:p>
          <a:p>
            <a:pPr algn="ctr">
              <a:defRPr sz="750">
                <a:solidFill>
                  <a:srgbClr val="556470"/>
                </a:solidFill>
                <a:latin typeface="Microsoft YaHei"/>
              </a:defRPr>
            </a:pPr>
            <a:r>
              <a:t>检查、整改</a:t>
            </a:r>
            <a:br/>
            <a:r>
              <a:t>风险控制</a:t>
            </a:r>
          </a:p>
        </p:txBody>
      </p:sp>
      <p:sp>
        <p:nvSpPr>
          <p:cNvPr id="24" name="Diamond 23"/>
          <p:cNvSpPr/>
          <p:nvPr/>
        </p:nvSpPr>
        <p:spPr>
          <a:xfrm>
            <a:off x="6671919" y="4590288"/>
            <a:ext cx="237744" cy="237744"/>
          </a:xfrm>
          <a:prstGeom prst="diamond">
            <a:avLst/>
          </a:prstGeom>
          <a:solidFill>
            <a:srgbClr val="EB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180679" y="1956816"/>
            <a:ext cx="0" cy="758952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080095" y="1856232"/>
            <a:ext cx="201168" cy="201168"/>
          </a:xfrm>
          <a:prstGeom prst="ellipse">
            <a:avLst/>
          </a:prstGeom>
          <a:solidFill>
            <a:srgbClr val="DE7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77175" y="2788920"/>
            <a:ext cx="1207008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7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>
                <a:solidFill>
                  <a:srgbClr val="DE742B"/>
                </a:solidFill>
                <a:latin typeface="Microsoft YaHei"/>
              </a:defRPr>
            </a:pPr>
            <a:r>
              <a:t>第五章</a:t>
            </a:r>
          </a:p>
          <a:p>
            <a:pPr algn="ctr">
              <a:defRPr sz="1000" b="1">
                <a:solidFill>
                  <a:srgbClr val="112B3F"/>
                </a:solidFill>
                <a:latin typeface="Microsoft YaHei"/>
              </a:defRPr>
            </a:pPr>
            <a:r>
              <a:t>法律责任</a:t>
            </a:r>
          </a:p>
          <a:p>
            <a:pPr algn="ctr">
              <a:defRPr sz="750">
                <a:solidFill>
                  <a:srgbClr val="556470"/>
                </a:solidFill>
                <a:latin typeface="Microsoft YaHei"/>
              </a:defRPr>
            </a:pPr>
            <a:r>
              <a:t>违法后果</a:t>
            </a:r>
            <a:br/>
            <a:r>
              <a:t>处罚措施</a:t>
            </a:r>
          </a:p>
        </p:txBody>
      </p:sp>
      <p:sp>
        <p:nvSpPr>
          <p:cNvPr id="28" name="Diamond 27"/>
          <p:cNvSpPr/>
          <p:nvPr/>
        </p:nvSpPr>
        <p:spPr>
          <a:xfrm>
            <a:off x="8061807" y="4590288"/>
            <a:ext cx="237744" cy="237744"/>
          </a:xfrm>
          <a:prstGeom prst="diamond">
            <a:avLst/>
          </a:prstGeom>
          <a:solidFill>
            <a:srgbClr val="DE7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9570567" y="1956816"/>
            <a:ext cx="0" cy="758952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469983" y="1856232"/>
            <a:ext cx="201168" cy="201168"/>
          </a:xfrm>
          <a:prstGeom prst="ellipse">
            <a:avLst/>
          </a:prstGeom>
          <a:solidFill>
            <a:srgbClr val="BC4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967063" y="2788920"/>
            <a:ext cx="1207008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4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100" b="1">
                <a:solidFill>
                  <a:srgbClr val="BC4136"/>
                </a:solidFill>
                <a:latin typeface="Microsoft YaHei"/>
              </a:defRPr>
            </a:pPr>
            <a:r>
              <a:t>第六章</a:t>
            </a:r>
          </a:p>
          <a:p>
            <a:pPr algn="ctr">
              <a:defRPr sz="1000" b="1">
                <a:solidFill>
                  <a:srgbClr val="112B3F"/>
                </a:solidFill>
                <a:latin typeface="Microsoft YaHei"/>
              </a:defRPr>
            </a:pPr>
            <a:r>
              <a:t>附则</a:t>
            </a:r>
          </a:p>
          <a:p>
            <a:pPr algn="ctr">
              <a:defRPr sz="750">
                <a:solidFill>
                  <a:srgbClr val="556470"/>
                </a:solidFill>
                <a:latin typeface="Microsoft YaHei"/>
              </a:defRPr>
            </a:pPr>
            <a:r>
              <a:t>术语补充</a:t>
            </a:r>
            <a:br/>
            <a:r>
              <a:t>实施安排</a:t>
            </a:r>
          </a:p>
        </p:txBody>
      </p:sp>
      <p:sp>
        <p:nvSpPr>
          <p:cNvPr id="32" name="Diamond 31"/>
          <p:cNvSpPr/>
          <p:nvPr/>
        </p:nvSpPr>
        <p:spPr>
          <a:xfrm>
            <a:off x="9451695" y="4590288"/>
            <a:ext cx="237744" cy="237744"/>
          </a:xfrm>
          <a:prstGeom prst="diamond">
            <a:avLst/>
          </a:prstGeom>
          <a:solidFill>
            <a:srgbClr val="BC4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291072"/>
            <a:ext cx="10332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840" b="0">
                <a:solidFill>
                  <a:srgbClr val="556470"/>
                </a:solidFill>
                <a:latin typeface="Microsoft YaHei"/>
              </a:defRPr>
            </a:pPr>
            <a:r>
              <a:t>理解方式：生产监督管理办法更聚焦“谁可以生产、如何持续生产、监管如何检查、违规如何处理”。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012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2400" b="1">
                <a:solidFill>
                  <a:srgbClr val="112B3F"/>
                </a:solidFill>
                <a:latin typeface="Microsoft YaHei"/>
              </a:defRPr>
            </a:pPr>
            <a:r>
              <a:t>医疗器械生产质量管理规范：企业内部质量体系框架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AF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A62"/>
                </a:solidFill>
                <a:latin typeface="Microsoft YaHei"/>
              </a:defRPr>
            </a:pPr>
            <a:r>
              <a:t>GMP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56470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7047" y="932688"/>
            <a:ext cx="3657600" cy="512064"/>
          </a:xfrm>
          <a:prstGeom prst="roundRect">
            <a:avLst/>
          </a:prstGeom>
          <a:solidFill>
            <a:srgbClr val="11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医疗器械生产质量管理规范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883664"/>
            <a:ext cx="7086600" cy="0"/>
          </a:xfrm>
          <a:prstGeom prst="line">
            <a:avLst/>
          </a:prstGeom>
          <a:ln w="25400">
            <a:solidFill>
              <a:srgbClr val="008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390" y="1444752"/>
            <a:ext cx="0" cy="438912"/>
          </a:xfrm>
          <a:prstGeom prst="line">
            <a:avLst/>
          </a:prstGeom>
          <a:ln w="22860">
            <a:solidFill>
              <a:srgbClr val="0080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571222" y="1883664"/>
            <a:ext cx="0" cy="649224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470638" y="1783080"/>
            <a:ext cx="201168" cy="201168"/>
          </a:xfrm>
          <a:prstGeom prst="ellipse">
            <a:avLst/>
          </a:prstGeom>
          <a:solidFill>
            <a:srgbClr val="27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31720" y="2606040"/>
            <a:ext cx="479004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>
                <a:solidFill>
                  <a:srgbClr val="2770B2"/>
                </a:solidFill>
                <a:latin typeface="Microsoft YaHei"/>
              </a:defRPr>
            </a:pPr>
            <a:r>
              <a:t>第一章</a:t>
            </a:r>
          </a:p>
          <a:p>
            <a:pPr algn="ctr">
              <a:defRPr sz="880" b="1">
                <a:solidFill>
                  <a:srgbClr val="112B3F"/>
                </a:solidFill>
                <a:latin typeface="Microsoft YaHei"/>
              </a:defRPr>
            </a:pPr>
            <a:r>
              <a:t>总则</a:t>
            </a:r>
          </a:p>
        </p:txBody>
      </p:sp>
      <p:sp>
        <p:nvSpPr>
          <p:cNvPr id="12" name="Diamond 11"/>
          <p:cNvSpPr/>
          <p:nvPr/>
        </p:nvSpPr>
        <p:spPr>
          <a:xfrm>
            <a:off x="2452350" y="4498848"/>
            <a:ext cx="237744" cy="237744"/>
          </a:xfrm>
          <a:prstGeom prst="diamond">
            <a:avLst/>
          </a:prstGeom>
          <a:solidFill>
            <a:srgbClr val="27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3159955" y="1883664"/>
            <a:ext cx="0" cy="649224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059371" y="1783080"/>
            <a:ext cx="201168" cy="201168"/>
          </a:xfrm>
          <a:prstGeom prst="ellipse">
            <a:avLst/>
          </a:prstGeom>
          <a:solidFill>
            <a:srgbClr val="008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20452" y="2606040"/>
            <a:ext cx="479004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>
                <a:solidFill>
                  <a:srgbClr val="008088"/>
                </a:solidFill>
                <a:latin typeface="Microsoft YaHei"/>
              </a:defRPr>
            </a:pPr>
            <a:r>
              <a:t>第二章</a:t>
            </a:r>
          </a:p>
          <a:p>
            <a:pPr algn="ctr">
              <a:defRPr sz="880" b="1">
                <a:solidFill>
                  <a:srgbClr val="112B3F"/>
                </a:solidFill>
                <a:latin typeface="Microsoft YaHei"/>
              </a:defRPr>
            </a:pPr>
            <a:r>
              <a:t>机构</a:t>
            </a:r>
            <a:br/>
            <a:r>
              <a:t>与人员</a:t>
            </a:r>
          </a:p>
        </p:txBody>
      </p:sp>
      <p:sp>
        <p:nvSpPr>
          <p:cNvPr id="16" name="Diamond 15"/>
          <p:cNvSpPr/>
          <p:nvPr/>
        </p:nvSpPr>
        <p:spPr>
          <a:xfrm>
            <a:off x="3041083" y="4498848"/>
            <a:ext cx="237744" cy="237744"/>
          </a:xfrm>
          <a:prstGeom prst="diamond">
            <a:avLst/>
          </a:prstGeom>
          <a:solidFill>
            <a:srgbClr val="008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3748688" y="1883664"/>
            <a:ext cx="0" cy="649224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648104" y="1783080"/>
            <a:ext cx="201168" cy="201168"/>
          </a:xfrm>
          <a:prstGeom prst="ellipse">
            <a:avLst/>
          </a:prstGeom>
          <a:solidFill>
            <a:srgbClr val="2EA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09185" y="2606040"/>
            <a:ext cx="479004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A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>
                <a:solidFill>
                  <a:srgbClr val="2EA06D"/>
                </a:solidFill>
                <a:latin typeface="Microsoft YaHei"/>
              </a:defRPr>
            </a:pPr>
            <a:r>
              <a:t>第三章</a:t>
            </a:r>
          </a:p>
          <a:p>
            <a:pPr algn="ctr">
              <a:defRPr sz="880" b="1">
                <a:solidFill>
                  <a:srgbClr val="112B3F"/>
                </a:solidFill>
                <a:latin typeface="Microsoft YaHei"/>
              </a:defRPr>
            </a:pPr>
            <a:r>
              <a:t>厂房</a:t>
            </a:r>
            <a:br/>
            <a:r>
              <a:t>与设施</a:t>
            </a:r>
          </a:p>
        </p:txBody>
      </p:sp>
      <p:sp>
        <p:nvSpPr>
          <p:cNvPr id="20" name="Diamond 19"/>
          <p:cNvSpPr/>
          <p:nvPr/>
        </p:nvSpPr>
        <p:spPr>
          <a:xfrm>
            <a:off x="3629816" y="4498848"/>
            <a:ext cx="237744" cy="237744"/>
          </a:xfrm>
          <a:prstGeom prst="diamond">
            <a:avLst/>
          </a:prstGeom>
          <a:solidFill>
            <a:srgbClr val="2EA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337421" y="1883664"/>
            <a:ext cx="0" cy="649224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236837" y="1783080"/>
            <a:ext cx="201168" cy="201168"/>
          </a:xfrm>
          <a:prstGeom prst="ellipse">
            <a:avLst/>
          </a:prstGeom>
          <a:solidFill>
            <a:srgbClr val="EB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97918" y="2606040"/>
            <a:ext cx="479004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A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>
                <a:solidFill>
                  <a:srgbClr val="EBA426"/>
                </a:solidFill>
                <a:latin typeface="Microsoft YaHei"/>
              </a:defRPr>
            </a:pPr>
            <a:r>
              <a:t>第四章</a:t>
            </a:r>
          </a:p>
          <a:p>
            <a:pPr algn="ctr">
              <a:defRPr sz="880" b="1">
                <a:solidFill>
                  <a:srgbClr val="112B3F"/>
                </a:solidFill>
                <a:latin typeface="Microsoft YaHei"/>
              </a:defRPr>
            </a:pPr>
            <a:r>
              <a:t>设备</a:t>
            </a:r>
          </a:p>
        </p:txBody>
      </p:sp>
      <p:sp>
        <p:nvSpPr>
          <p:cNvPr id="24" name="Diamond 23"/>
          <p:cNvSpPr/>
          <p:nvPr/>
        </p:nvSpPr>
        <p:spPr>
          <a:xfrm>
            <a:off x="4218549" y="4498848"/>
            <a:ext cx="237744" cy="237744"/>
          </a:xfrm>
          <a:prstGeom prst="diamond">
            <a:avLst/>
          </a:prstGeom>
          <a:solidFill>
            <a:srgbClr val="EB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926154" y="1883664"/>
            <a:ext cx="0" cy="649224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825570" y="1783080"/>
            <a:ext cx="201168" cy="201168"/>
          </a:xfrm>
          <a:prstGeom prst="ellipse">
            <a:avLst/>
          </a:prstGeom>
          <a:solidFill>
            <a:srgbClr val="DE7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86651" y="2606040"/>
            <a:ext cx="479004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7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>
                <a:solidFill>
                  <a:srgbClr val="DE742B"/>
                </a:solidFill>
                <a:latin typeface="Microsoft YaHei"/>
              </a:defRPr>
            </a:pPr>
            <a:r>
              <a:t>第五章</a:t>
            </a:r>
          </a:p>
          <a:p>
            <a:pPr algn="ctr">
              <a:defRPr sz="880" b="1">
                <a:solidFill>
                  <a:srgbClr val="112B3F"/>
                </a:solidFill>
                <a:latin typeface="Microsoft YaHei"/>
              </a:defRPr>
            </a:pPr>
            <a:r>
              <a:t>文件</a:t>
            </a:r>
            <a:br/>
            <a:r>
              <a:t>管理</a:t>
            </a:r>
          </a:p>
        </p:txBody>
      </p:sp>
      <p:sp>
        <p:nvSpPr>
          <p:cNvPr id="28" name="Diamond 27"/>
          <p:cNvSpPr/>
          <p:nvPr/>
        </p:nvSpPr>
        <p:spPr>
          <a:xfrm>
            <a:off x="4807282" y="4498848"/>
            <a:ext cx="237744" cy="237744"/>
          </a:xfrm>
          <a:prstGeom prst="diamond">
            <a:avLst/>
          </a:prstGeom>
          <a:solidFill>
            <a:srgbClr val="DE7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514887" y="1883664"/>
            <a:ext cx="0" cy="649224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414303" y="1783080"/>
            <a:ext cx="201168" cy="201168"/>
          </a:xfrm>
          <a:prstGeom prst="ellipse">
            <a:avLst/>
          </a:prstGeom>
          <a:solidFill>
            <a:srgbClr val="BC4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275384" y="2606040"/>
            <a:ext cx="479004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4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>
                <a:solidFill>
                  <a:srgbClr val="BC4136"/>
                </a:solidFill>
                <a:latin typeface="Microsoft YaHei"/>
              </a:defRPr>
            </a:pPr>
            <a:r>
              <a:t>第六章</a:t>
            </a:r>
          </a:p>
          <a:p>
            <a:pPr algn="ctr">
              <a:defRPr sz="880" b="1">
                <a:solidFill>
                  <a:srgbClr val="112B3F"/>
                </a:solidFill>
                <a:latin typeface="Microsoft YaHei"/>
              </a:defRPr>
            </a:pPr>
            <a:r>
              <a:t>设计</a:t>
            </a:r>
            <a:br/>
            <a:r>
              <a:t>开发</a:t>
            </a:r>
          </a:p>
        </p:txBody>
      </p:sp>
      <p:sp>
        <p:nvSpPr>
          <p:cNvPr id="32" name="Diamond 31"/>
          <p:cNvSpPr/>
          <p:nvPr/>
        </p:nvSpPr>
        <p:spPr>
          <a:xfrm>
            <a:off x="5396015" y="4498848"/>
            <a:ext cx="237744" cy="237744"/>
          </a:xfrm>
          <a:prstGeom prst="diamond">
            <a:avLst/>
          </a:prstGeom>
          <a:solidFill>
            <a:srgbClr val="BC4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103620" y="1883664"/>
            <a:ext cx="0" cy="649224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003036" y="1783080"/>
            <a:ext cx="201168" cy="201168"/>
          </a:xfrm>
          <a:prstGeom prst="ellipse">
            <a:avLst/>
          </a:prstGeom>
          <a:solidFill>
            <a:srgbClr val="6F5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864117" y="2606040"/>
            <a:ext cx="479004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F5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>
                <a:solidFill>
                  <a:srgbClr val="6F58A9"/>
                </a:solidFill>
                <a:latin typeface="Microsoft YaHei"/>
              </a:defRPr>
            </a:pPr>
            <a:r>
              <a:t>第七章</a:t>
            </a:r>
          </a:p>
          <a:p>
            <a:pPr algn="ctr">
              <a:defRPr sz="880" b="1">
                <a:solidFill>
                  <a:srgbClr val="112B3F"/>
                </a:solidFill>
                <a:latin typeface="Microsoft YaHei"/>
              </a:defRPr>
            </a:pPr>
            <a:r>
              <a:t>采购</a:t>
            </a:r>
          </a:p>
          <a:p>
            <a:pPr algn="ctr">
              <a:defRPr sz="660">
                <a:solidFill>
                  <a:srgbClr val="556470"/>
                </a:solidFill>
                <a:latin typeface="Microsoft YaHei"/>
              </a:defRPr>
            </a:pPr>
            <a:r>
              <a:t>供应商</a:t>
            </a:r>
            <a:br/>
            <a:r>
              <a:t>物料</a:t>
            </a:r>
          </a:p>
        </p:txBody>
      </p:sp>
      <p:sp>
        <p:nvSpPr>
          <p:cNvPr id="36" name="Diamond 35"/>
          <p:cNvSpPr/>
          <p:nvPr/>
        </p:nvSpPr>
        <p:spPr>
          <a:xfrm>
            <a:off x="5984748" y="4498848"/>
            <a:ext cx="237744" cy="237744"/>
          </a:xfrm>
          <a:prstGeom prst="diamond">
            <a:avLst/>
          </a:prstGeom>
          <a:solidFill>
            <a:srgbClr val="6F5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6692352" y="1883664"/>
            <a:ext cx="0" cy="649224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591768" y="1783080"/>
            <a:ext cx="201168" cy="201168"/>
          </a:xfrm>
          <a:prstGeom prst="ellipse">
            <a:avLst/>
          </a:prstGeom>
          <a:solidFill>
            <a:srgbClr val="27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52850" y="2606040"/>
            <a:ext cx="479004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7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>
                <a:solidFill>
                  <a:srgbClr val="2770B2"/>
                </a:solidFill>
                <a:latin typeface="Microsoft YaHei"/>
              </a:defRPr>
            </a:pPr>
            <a:r>
              <a:t>第八章</a:t>
            </a:r>
          </a:p>
          <a:p>
            <a:pPr algn="ctr">
              <a:defRPr sz="880" b="1">
                <a:solidFill>
                  <a:srgbClr val="112B3F"/>
                </a:solidFill>
                <a:latin typeface="Microsoft YaHei"/>
              </a:defRPr>
            </a:pPr>
            <a:r>
              <a:t>生产</a:t>
            </a:r>
            <a:br/>
            <a:r>
              <a:t>管理</a:t>
            </a:r>
          </a:p>
        </p:txBody>
      </p:sp>
      <p:sp>
        <p:nvSpPr>
          <p:cNvPr id="40" name="Diamond 39"/>
          <p:cNvSpPr/>
          <p:nvPr/>
        </p:nvSpPr>
        <p:spPr>
          <a:xfrm>
            <a:off x="6573480" y="4498848"/>
            <a:ext cx="237744" cy="237744"/>
          </a:xfrm>
          <a:prstGeom prst="diamond">
            <a:avLst/>
          </a:prstGeom>
          <a:solidFill>
            <a:srgbClr val="27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7281085" y="1883664"/>
            <a:ext cx="0" cy="649224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180501" y="1783080"/>
            <a:ext cx="201168" cy="201168"/>
          </a:xfrm>
          <a:prstGeom prst="ellipse">
            <a:avLst/>
          </a:prstGeom>
          <a:solidFill>
            <a:srgbClr val="008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041583" y="2606040"/>
            <a:ext cx="479004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>
                <a:solidFill>
                  <a:srgbClr val="008088"/>
                </a:solidFill>
                <a:latin typeface="Microsoft YaHei"/>
              </a:defRPr>
            </a:pPr>
            <a:r>
              <a:t>第九章</a:t>
            </a:r>
          </a:p>
          <a:p>
            <a:pPr algn="ctr">
              <a:defRPr sz="880" b="1">
                <a:solidFill>
                  <a:srgbClr val="112B3F"/>
                </a:solidFill>
                <a:latin typeface="Microsoft YaHei"/>
              </a:defRPr>
            </a:pPr>
            <a:r>
              <a:t>质量</a:t>
            </a:r>
            <a:br/>
            <a:r>
              <a:t>控制</a:t>
            </a:r>
          </a:p>
        </p:txBody>
      </p:sp>
      <p:sp>
        <p:nvSpPr>
          <p:cNvPr id="44" name="Diamond 43"/>
          <p:cNvSpPr/>
          <p:nvPr/>
        </p:nvSpPr>
        <p:spPr>
          <a:xfrm>
            <a:off x="7162213" y="4498848"/>
            <a:ext cx="237744" cy="237744"/>
          </a:xfrm>
          <a:prstGeom prst="diamond">
            <a:avLst/>
          </a:prstGeom>
          <a:solidFill>
            <a:srgbClr val="008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7869818" y="1883664"/>
            <a:ext cx="0" cy="649224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7769234" y="1783080"/>
            <a:ext cx="201168" cy="201168"/>
          </a:xfrm>
          <a:prstGeom prst="ellipse">
            <a:avLst/>
          </a:prstGeom>
          <a:solidFill>
            <a:srgbClr val="2EA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630316" y="2606040"/>
            <a:ext cx="479004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A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>
                <a:solidFill>
                  <a:srgbClr val="2EA06D"/>
                </a:solidFill>
                <a:latin typeface="Microsoft YaHei"/>
              </a:defRPr>
            </a:pPr>
            <a:r>
              <a:t>第十章</a:t>
            </a:r>
          </a:p>
          <a:p>
            <a:pPr algn="ctr">
              <a:defRPr sz="880" b="1">
                <a:solidFill>
                  <a:srgbClr val="112B3F"/>
                </a:solidFill>
                <a:latin typeface="Microsoft YaHei"/>
              </a:defRPr>
            </a:pPr>
            <a:r>
              <a:t>销售和</a:t>
            </a:r>
            <a:br/>
            <a:r>
              <a:t>售后服务</a:t>
            </a:r>
          </a:p>
        </p:txBody>
      </p:sp>
      <p:sp>
        <p:nvSpPr>
          <p:cNvPr id="48" name="Diamond 47"/>
          <p:cNvSpPr/>
          <p:nvPr/>
        </p:nvSpPr>
        <p:spPr>
          <a:xfrm>
            <a:off x="7750946" y="4498848"/>
            <a:ext cx="237744" cy="237744"/>
          </a:xfrm>
          <a:prstGeom prst="diamond">
            <a:avLst/>
          </a:prstGeom>
          <a:solidFill>
            <a:srgbClr val="2EA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8458551" y="1883664"/>
            <a:ext cx="0" cy="649224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8357967" y="1783080"/>
            <a:ext cx="201168" cy="201168"/>
          </a:xfrm>
          <a:prstGeom prst="ellipse">
            <a:avLst/>
          </a:prstGeom>
          <a:solidFill>
            <a:srgbClr val="EB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19049" y="2606040"/>
            <a:ext cx="479004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A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>
                <a:solidFill>
                  <a:srgbClr val="EBA426"/>
                </a:solidFill>
                <a:latin typeface="Microsoft YaHei"/>
              </a:defRPr>
            </a:pPr>
            <a:r>
              <a:t>第十一章</a:t>
            </a:r>
          </a:p>
          <a:p>
            <a:pPr algn="ctr">
              <a:defRPr sz="880" b="1">
                <a:solidFill>
                  <a:srgbClr val="112B3F"/>
                </a:solidFill>
                <a:latin typeface="Microsoft YaHei"/>
              </a:defRPr>
            </a:pPr>
            <a:r>
              <a:t>不合格品</a:t>
            </a:r>
            <a:br/>
            <a:r>
              <a:t>控制</a:t>
            </a:r>
          </a:p>
        </p:txBody>
      </p:sp>
      <p:sp>
        <p:nvSpPr>
          <p:cNvPr id="52" name="Diamond 51"/>
          <p:cNvSpPr/>
          <p:nvPr/>
        </p:nvSpPr>
        <p:spPr>
          <a:xfrm>
            <a:off x="8339679" y="4498848"/>
            <a:ext cx="237744" cy="237744"/>
          </a:xfrm>
          <a:prstGeom prst="diamond">
            <a:avLst/>
          </a:prstGeom>
          <a:solidFill>
            <a:srgbClr val="EBA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9047284" y="1883664"/>
            <a:ext cx="0" cy="649224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8946700" y="1783080"/>
            <a:ext cx="201168" cy="201168"/>
          </a:xfrm>
          <a:prstGeom prst="ellipse">
            <a:avLst/>
          </a:prstGeom>
          <a:solidFill>
            <a:srgbClr val="DE7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807782" y="2606040"/>
            <a:ext cx="479004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7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>
                <a:solidFill>
                  <a:srgbClr val="DE742B"/>
                </a:solidFill>
                <a:latin typeface="Microsoft YaHei"/>
              </a:defRPr>
            </a:pPr>
            <a:r>
              <a:t>第十二章</a:t>
            </a:r>
          </a:p>
          <a:p>
            <a:pPr algn="ctr">
              <a:defRPr sz="880" b="1">
                <a:solidFill>
                  <a:srgbClr val="112B3F"/>
                </a:solidFill>
                <a:latin typeface="Microsoft YaHei"/>
              </a:defRPr>
            </a:pPr>
            <a:r>
              <a:t>不良事件监测</a:t>
            </a:r>
            <a:br/>
            <a:r>
              <a:t>分析和改进</a:t>
            </a:r>
          </a:p>
        </p:txBody>
      </p:sp>
      <p:sp>
        <p:nvSpPr>
          <p:cNvPr id="56" name="Diamond 55"/>
          <p:cNvSpPr/>
          <p:nvPr/>
        </p:nvSpPr>
        <p:spPr>
          <a:xfrm>
            <a:off x="8928412" y="4498848"/>
            <a:ext cx="237744" cy="237744"/>
          </a:xfrm>
          <a:prstGeom prst="diamond">
            <a:avLst/>
          </a:prstGeom>
          <a:solidFill>
            <a:srgbClr val="DE7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9636017" y="1883664"/>
            <a:ext cx="0" cy="649224"/>
          </a:xfrm>
          <a:prstGeom prst="line">
            <a:avLst/>
          </a:prstGeom>
          <a:ln w="13970">
            <a:solidFill>
              <a:srgbClr val="7A9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9535433" y="1783080"/>
            <a:ext cx="201168" cy="201168"/>
          </a:xfrm>
          <a:prstGeom prst="ellipse">
            <a:avLst/>
          </a:prstGeom>
          <a:solidFill>
            <a:srgbClr val="BC4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396515" y="2606040"/>
            <a:ext cx="479004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C4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000" b="1">
                <a:solidFill>
                  <a:srgbClr val="BC4136"/>
                </a:solidFill>
                <a:latin typeface="Microsoft YaHei"/>
              </a:defRPr>
            </a:pPr>
            <a:r>
              <a:t>第十三章</a:t>
            </a:r>
          </a:p>
          <a:p>
            <a:pPr algn="ctr">
              <a:defRPr sz="880" b="1">
                <a:solidFill>
                  <a:srgbClr val="112B3F"/>
                </a:solidFill>
                <a:latin typeface="Microsoft YaHei"/>
              </a:defRPr>
            </a:pPr>
            <a:r>
              <a:t>附则</a:t>
            </a:r>
          </a:p>
        </p:txBody>
      </p:sp>
      <p:sp>
        <p:nvSpPr>
          <p:cNvPr id="60" name="Diamond 59"/>
          <p:cNvSpPr/>
          <p:nvPr/>
        </p:nvSpPr>
        <p:spPr>
          <a:xfrm>
            <a:off x="9517145" y="4498848"/>
            <a:ext cx="237744" cy="237744"/>
          </a:xfrm>
          <a:prstGeom prst="diamond">
            <a:avLst/>
          </a:prstGeom>
          <a:solidFill>
            <a:srgbClr val="BC4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11480" y="1508760"/>
            <a:ext cx="171907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76072" y="1655063"/>
            <a:ext cx="1389888" cy="310896"/>
          </a:xfrm>
          <a:prstGeom prst="roundRect">
            <a:avLst/>
          </a:prstGeom>
          <a:solidFill>
            <a:srgbClr val="6F5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Microsoft YaHei"/>
              </a:defRPr>
            </a:pPr>
            <a:r>
              <a:t>附录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76072" y="2130552"/>
            <a:ext cx="1389888" cy="384048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680">
                <a:solidFill>
                  <a:srgbClr val="20252A"/>
                </a:solidFill>
                <a:latin typeface="Microsoft YaHei"/>
              </a:defRPr>
            </a:pPr>
            <a:r>
              <a:t>无菌医疗器械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76072" y="2587752"/>
            <a:ext cx="1389888" cy="384048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680">
                <a:solidFill>
                  <a:srgbClr val="20252A"/>
                </a:solidFill>
                <a:latin typeface="Microsoft YaHei"/>
              </a:defRPr>
            </a:pPr>
            <a:r>
              <a:t>植入性医疗器械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76072" y="3044952"/>
            <a:ext cx="1389888" cy="384048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680">
                <a:solidFill>
                  <a:srgbClr val="20252A"/>
                </a:solidFill>
                <a:latin typeface="Microsoft YaHei"/>
              </a:defRPr>
            </a:pPr>
            <a:r>
              <a:t>体外诊断试剂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76072" y="3502152"/>
            <a:ext cx="1389888" cy="384048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680">
                <a:solidFill>
                  <a:srgbClr val="20252A"/>
                </a:solidFill>
                <a:latin typeface="Microsoft YaHei"/>
              </a:defRPr>
            </a:pPr>
            <a:r>
              <a:t>定制式义齿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76072" y="3959352"/>
            <a:ext cx="1389888" cy="384048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680">
                <a:solidFill>
                  <a:srgbClr val="20252A"/>
                </a:solidFill>
                <a:latin typeface="Microsoft YaHei"/>
              </a:defRPr>
            </a:pPr>
            <a:r>
              <a:t>独立软件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85248" y="1508760"/>
            <a:ext cx="171907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0149840" y="1655063"/>
            <a:ext cx="1389888" cy="310896"/>
          </a:xfrm>
          <a:prstGeom prst="roundRect">
            <a:avLst/>
          </a:prstGeom>
          <a:solidFill>
            <a:srgbClr val="DE7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Microsoft YaHei"/>
              </a:defRPr>
            </a:pPr>
            <a:r>
              <a:t>相关标准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149840" y="2130552"/>
            <a:ext cx="1389888" cy="384048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680">
                <a:solidFill>
                  <a:srgbClr val="20252A"/>
                </a:solidFill>
                <a:latin typeface="Microsoft YaHei"/>
              </a:defRPr>
            </a:pPr>
            <a:r>
              <a:t>风险管理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149840" y="2587752"/>
            <a:ext cx="1389888" cy="384048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680">
                <a:solidFill>
                  <a:srgbClr val="20252A"/>
                </a:solidFill>
                <a:latin typeface="Microsoft YaHei"/>
              </a:defRPr>
            </a:pPr>
            <a:r>
              <a:t>ISO 13485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149840" y="3044952"/>
            <a:ext cx="1389888" cy="384048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680">
                <a:solidFill>
                  <a:srgbClr val="20252A"/>
                </a:solidFill>
                <a:latin typeface="Microsoft YaHei"/>
              </a:defRPr>
            </a:pPr>
            <a:r>
              <a:t>生物学评价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149840" y="3502152"/>
            <a:ext cx="1389888" cy="384048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680">
                <a:solidFill>
                  <a:srgbClr val="20252A"/>
                </a:solidFill>
                <a:latin typeface="Microsoft YaHei"/>
              </a:defRPr>
            </a:pPr>
            <a:r>
              <a:t>电气安全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149840" y="3959352"/>
            <a:ext cx="1389888" cy="384048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680">
                <a:solidFill>
                  <a:srgbClr val="20252A"/>
                </a:solidFill>
                <a:latin typeface="Microsoft YaHei"/>
              </a:defRPr>
            </a:pPr>
            <a:r>
              <a:t>软件生命周期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149840" y="4416552"/>
            <a:ext cx="1389888" cy="384048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680">
                <a:solidFill>
                  <a:srgbClr val="20252A"/>
                </a:solidFill>
                <a:latin typeface="Microsoft YaHei"/>
              </a:defRPr>
            </a:pPr>
            <a:r>
              <a:t>包装/灭菌/UDI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6291072"/>
            <a:ext cx="10332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840" b="0">
                <a:solidFill>
                  <a:srgbClr val="556470"/>
                </a:solidFill>
                <a:latin typeface="Microsoft YaHei"/>
              </a:defRPr>
            </a:pPr>
            <a:r>
              <a:t>理解方式：GMP 是企业内部“怎么做、怎么管、怎么留证据”的质量体系要求；采购属于产品实现过程的重要输入。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8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012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2400" b="1">
                <a:solidFill>
                  <a:srgbClr val="112B3F"/>
                </a:solidFill>
                <a:latin typeface="Microsoft YaHei"/>
              </a:defRPr>
            </a:pPr>
            <a:r>
              <a:t>三张风铃图之间的关系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78440" y="329184"/>
            <a:ext cx="1325880" cy="347472"/>
          </a:xfrm>
          <a:prstGeom prst="roundRect">
            <a:avLst/>
          </a:prstGeom>
          <a:solidFill>
            <a:srgbClr val="E2F6F5"/>
          </a:solidFill>
          <a:ln w="12700">
            <a:solidFill>
              <a:srgbClr val="AF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5A62"/>
                </a:solidFill>
                <a:latin typeface="Microsoft YaHei"/>
              </a:defRPr>
            </a:pPr>
            <a:r>
              <a:t>关系图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82296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556470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987552"/>
            <a:ext cx="3657600" cy="502920"/>
          </a:xfrm>
          <a:prstGeom prst="roundRect">
            <a:avLst/>
          </a:prstGeom>
          <a:solidFill>
            <a:srgbClr val="11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医疗器械监督管理条例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572768"/>
            <a:ext cx="4206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ctr">
              <a:spcAft>
                <a:spcPts val="200"/>
              </a:spcAft>
              <a:defRPr sz="1100" b="0">
                <a:solidFill>
                  <a:srgbClr val="556470"/>
                </a:solidFill>
                <a:latin typeface="Microsoft YaHei"/>
              </a:defRPr>
            </a:pPr>
            <a:r>
              <a:t>全生命周期监管的上位框架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423160"/>
            <a:ext cx="3657600" cy="502920"/>
          </a:xfrm>
          <a:prstGeom prst="roundRect">
            <a:avLst/>
          </a:prstGeom>
          <a:solidFill>
            <a:srgbClr val="27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医疗器械生产监督管理办法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2423160"/>
            <a:ext cx="3657600" cy="502920"/>
          </a:xfrm>
          <a:prstGeom prst="roundRect">
            <a:avLst/>
          </a:prstGeom>
          <a:solidFill>
            <a:srgbClr val="008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医疗器械生产质量管理规范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99232"/>
            <a:ext cx="4114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ctr">
              <a:spcAft>
                <a:spcPts val="200"/>
              </a:spcAft>
              <a:defRPr sz="1050" b="0">
                <a:solidFill>
                  <a:srgbClr val="556470"/>
                </a:solidFill>
                <a:latin typeface="Microsoft YaHei"/>
              </a:defRPr>
            </a:pPr>
            <a:r>
              <a:t>外部监管：许可备案、生产质量管理、监督检查、法律责任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999232"/>
            <a:ext cx="4206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ctr">
              <a:spcAft>
                <a:spcPts val="200"/>
              </a:spcAft>
              <a:defRPr sz="1050" b="0">
                <a:solidFill>
                  <a:srgbClr val="556470"/>
                </a:solidFill>
                <a:latin typeface="Microsoft YaHei"/>
              </a:defRPr>
            </a:pPr>
            <a:r>
              <a:t>内部运行：人员、设备、文件、设计、采购、生产、检验、改进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971800" y="1499616"/>
            <a:ext cx="3108960" cy="923544"/>
          </a:xfrm>
          <a:prstGeom prst="line">
            <a:avLst/>
          </a:prstGeom>
          <a:ln w="19050">
            <a:solidFill>
              <a:srgbClr val="55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60" y="1499616"/>
            <a:ext cx="3108960" cy="923544"/>
          </a:xfrm>
          <a:prstGeom prst="line">
            <a:avLst/>
          </a:prstGeom>
          <a:ln w="19050">
            <a:solidFill>
              <a:srgbClr val="55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" y="4005072"/>
            <a:ext cx="2743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005072"/>
            <a:ext cx="73152" cy="1325880"/>
          </a:xfrm>
          <a:prstGeom prst="rect">
            <a:avLst/>
          </a:prstGeom>
          <a:solidFill>
            <a:srgbClr val="008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245059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12B3F"/>
                </a:solidFill>
                <a:latin typeface="Microsoft YaHei"/>
              </a:defRPr>
            </a:pPr>
            <a:r>
              <a:t>采购看条例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80560"/>
            <a:ext cx="2450592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1070" b="0">
                <a:solidFill>
                  <a:srgbClr val="20252A"/>
                </a:solidFill>
                <a:latin typeface="Microsoft YaHei"/>
              </a:defRPr>
            </a:pPr>
            <a:r>
              <a:t>看成品风险、全生命周期责任、上市后追溯和召回边界。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4005072"/>
            <a:ext cx="2743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11880" y="4005072"/>
            <a:ext cx="73152" cy="1325880"/>
          </a:xfrm>
          <a:prstGeom prst="rect">
            <a:avLst/>
          </a:prstGeom>
          <a:solidFill>
            <a:srgbClr val="277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4114800"/>
            <a:ext cx="245059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12B3F"/>
                </a:solidFill>
                <a:latin typeface="Microsoft YaHei"/>
              </a:defRPr>
            </a:pPr>
            <a:r>
              <a:t>采购看办法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480560"/>
            <a:ext cx="2450592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1070" b="0">
                <a:solidFill>
                  <a:srgbClr val="20252A"/>
                </a:solidFill>
                <a:latin typeface="Microsoft YaHei"/>
              </a:defRPr>
            </a:pPr>
            <a:r>
              <a:t>看生产企业对供应商、外协和生产质量的监管责任。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4005072"/>
            <a:ext cx="2743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7960" y="4005072"/>
            <a:ext cx="73152" cy="1325880"/>
          </a:xfrm>
          <a:prstGeom prst="rect">
            <a:avLst/>
          </a:prstGeom>
          <a:solidFill>
            <a:srgbClr val="2EA0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114800"/>
            <a:ext cx="245059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12B3F"/>
                </a:solidFill>
                <a:latin typeface="Microsoft YaHei"/>
              </a:defRPr>
            </a:pPr>
            <a:r>
              <a:t>采购看 GMP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480560"/>
            <a:ext cx="2450592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1070" b="0">
                <a:solidFill>
                  <a:srgbClr val="20252A"/>
                </a:solidFill>
                <a:latin typeface="Microsoft YaHei"/>
              </a:defRPr>
            </a:pPr>
            <a:r>
              <a:t>看供应商准入、采购要求、质量协议、来料验证、变更控制和记录。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4005072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64040" y="4005072"/>
            <a:ext cx="73152" cy="1325880"/>
          </a:xfrm>
          <a:prstGeom prst="rect">
            <a:avLst/>
          </a:prstGeom>
          <a:solidFill>
            <a:srgbClr val="DE7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19" y="4114800"/>
            <a:ext cx="1764792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12B3F"/>
                </a:solidFill>
                <a:latin typeface="Microsoft YaHei"/>
              </a:defRPr>
            </a:pPr>
            <a:r>
              <a:t>内审看证据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19" y="4480560"/>
            <a:ext cx="1764792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spcAft>
                <a:spcPts val="200"/>
              </a:spcAft>
              <a:defRPr sz="1019" b="0">
                <a:solidFill>
                  <a:srgbClr val="20252A"/>
                </a:solidFill>
                <a:latin typeface="Microsoft YaHei"/>
              </a:defRPr>
            </a:pPr>
            <a:r>
              <a:t>制度、清单、协议、记录、评价、CAPA 是否闭环。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33872"/>
            <a:ext cx="1078992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12B3F"/>
                </a:solidFill>
                <a:latin typeface="Microsoft YaHei"/>
              </a:defRPr>
            </a:pPr>
            <a:r>
              <a:t>一句话：条例定方向，办法定监管，GMP 定企业内部执行；采购要把外部供应链纳入“受控、可证、可追溯”。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法规风铃图</dc:title>
  <dc:subject>医疗器械法规、生产监管与生产质量管理规范结构图</dc:subject>
  <dc:creator>Cursor Cloud Agent</dc:creator>
  <cp:keywords>法规风铃图, 医疗器械, GMP, 采购, 内审员, 质量体系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